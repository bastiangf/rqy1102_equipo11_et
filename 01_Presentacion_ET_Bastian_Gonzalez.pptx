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63" r:id="rId9"/>
    <p:sldId id="271" r:id="rId10"/>
    <p:sldId id="272" r:id="rId11"/>
    <p:sldId id="273" r:id="rId12"/>
    <p:sldId id="274" r:id="rId13"/>
    <p:sldId id="275" r:id="rId14"/>
    <p:sldId id="269" r:id="rId15"/>
    <p:sldId id="270" r:id="rId16"/>
    <p:sldId id="265" r:id="rId17"/>
    <p:sldId id="267" r:id="rId18"/>
    <p:sldId id="268" r:id="rId19"/>
    <p:sldId id="266" r:id="rId2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59B1DD-EBD6-442B-AA61-91ACADAA6CF6}" v="93" dt="2026-07-10T09:43:55.50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032"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ero Dono" userId="6a7ddd05e1728e09" providerId="LiveId" clId="{9685C958-7EE1-4924-9265-098C5EA8304E}"/>
    <pc:docChg chg="undo redo custSel addSld delSld modSld">
      <pc:chgData name="Xero Dono" userId="6a7ddd05e1728e09" providerId="LiveId" clId="{9685C958-7EE1-4924-9265-098C5EA8304E}" dt="2026-07-10T09:46:24.447" v="760" actId="20577"/>
      <pc:docMkLst>
        <pc:docMk/>
      </pc:docMkLst>
      <pc:sldChg chg="addSp modSp mod">
        <pc:chgData name="Xero Dono" userId="6a7ddd05e1728e09" providerId="LiveId" clId="{9685C958-7EE1-4924-9265-098C5EA8304E}" dt="2026-07-10T07:19:33.592" v="140" actId="1076"/>
        <pc:sldMkLst>
          <pc:docMk/>
          <pc:sldMk cId="3324313383" sldId="262"/>
        </pc:sldMkLst>
        <pc:spChg chg="add mod">
          <ac:chgData name="Xero Dono" userId="6a7ddd05e1728e09" providerId="LiveId" clId="{9685C958-7EE1-4924-9265-098C5EA8304E}" dt="2026-07-10T07:04:46.853" v="26" actId="20577"/>
          <ac:spMkLst>
            <pc:docMk/>
            <pc:sldMk cId="3324313383" sldId="262"/>
            <ac:spMk id="2" creationId="{06CAAA53-E8B2-4FA6-9799-59A8978122B6}"/>
          </ac:spMkLst>
        </pc:spChg>
        <pc:spChg chg="mod">
          <ac:chgData name="Xero Dono" userId="6a7ddd05e1728e09" providerId="LiveId" clId="{9685C958-7EE1-4924-9265-098C5EA8304E}" dt="2026-07-10T07:04:09.961" v="11" actId="1076"/>
          <ac:spMkLst>
            <pc:docMk/>
            <pc:sldMk cId="3324313383" sldId="262"/>
            <ac:spMk id="7" creationId="{3A739E92-330D-944C-ED3E-C7F02FA216B3}"/>
          </ac:spMkLst>
        </pc:spChg>
        <pc:graphicFrameChg chg="mod modGraphic">
          <ac:chgData name="Xero Dono" userId="6a7ddd05e1728e09" providerId="LiveId" clId="{9685C958-7EE1-4924-9265-098C5EA8304E}" dt="2026-07-10T07:19:33.592" v="140" actId="1076"/>
          <ac:graphicFrameMkLst>
            <pc:docMk/>
            <pc:sldMk cId="3324313383" sldId="262"/>
            <ac:graphicFrameMk id="4" creationId="{7BB5CADE-DDA2-A4F7-629E-7AEEB49F57D7}"/>
          </ac:graphicFrameMkLst>
        </pc:graphicFrameChg>
      </pc:sldChg>
      <pc:sldChg chg="addSp modSp mod">
        <pc:chgData name="Xero Dono" userId="6a7ddd05e1728e09" providerId="LiveId" clId="{9685C958-7EE1-4924-9265-098C5EA8304E}" dt="2026-07-10T07:30:33.268" v="188" actId="1076"/>
        <pc:sldMkLst>
          <pc:docMk/>
          <pc:sldMk cId="1890491460" sldId="263"/>
        </pc:sldMkLst>
        <pc:spChg chg="add mod">
          <ac:chgData name="Xero Dono" userId="6a7ddd05e1728e09" providerId="LiveId" clId="{9685C958-7EE1-4924-9265-098C5EA8304E}" dt="2026-07-10T07:30:33.268" v="188" actId="1076"/>
          <ac:spMkLst>
            <pc:docMk/>
            <pc:sldMk cId="1890491460" sldId="263"/>
            <ac:spMk id="2" creationId="{5957A42E-ED67-B622-6735-DF034A306971}"/>
          </ac:spMkLst>
        </pc:spChg>
        <pc:spChg chg="mod">
          <ac:chgData name="Xero Dono" userId="6a7ddd05e1728e09" providerId="LiveId" clId="{9685C958-7EE1-4924-9265-098C5EA8304E}" dt="2026-07-10T07:23:35.548" v="142" actId="1076"/>
          <ac:spMkLst>
            <pc:docMk/>
            <pc:sldMk cId="1890491460" sldId="263"/>
            <ac:spMk id="7" creationId="{3A739E92-330D-944C-ED3E-C7F02FA216B3}"/>
          </ac:spMkLst>
        </pc:spChg>
      </pc:sldChg>
      <pc:sldChg chg="addSp delSp modSp mod">
        <pc:chgData name="Xero Dono" userId="6a7ddd05e1728e09" providerId="LiveId" clId="{9685C958-7EE1-4924-9265-098C5EA8304E}" dt="2026-07-10T08:44:02.501" v="636" actId="20577"/>
        <pc:sldMkLst>
          <pc:docMk/>
          <pc:sldMk cId="489174681" sldId="265"/>
        </pc:sldMkLst>
        <pc:spChg chg="add mod">
          <ac:chgData name="Xero Dono" userId="6a7ddd05e1728e09" providerId="LiveId" clId="{9685C958-7EE1-4924-9265-098C5EA8304E}" dt="2026-07-10T08:43:45.113" v="611" actId="1076"/>
          <ac:spMkLst>
            <pc:docMk/>
            <pc:sldMk cId="489174681" sldId="265"/>
            <ac:spMk id="2" creationId="{16027551-E477-B299-5D94-90D3A3A4339F}"/>
          </ac:spMkLst>
        </pc:spChg>
        <pc:spChg chg="add mod">
          <ac:chgData name="Xero Dono" userId="6a7ddd05e1728e09" providerId="LiveId" clId="{9685C958-7EE1-4924-9265-098C5EA8304E}" dt="2026-07-10T08:44:02.501" v="636" actId="20577"/>
          <ac:spMkLst>
            <pc:docMk/>
            <pc:sldMk cId="489174681" sldId="265"/>
            <ac:spMk id="3" creationId="{23B03763-E3A0-573C-2AD2-613D73B412E2}"/>
          </ac:spMkLst>
        </pc:spChg>
        <pc:spChg chg="mod">
          <ac:chgData name="Xero Dono" userId="6a7ddd05e1728e09" providerId="LiveId" clId="{9685C958-7EE1-4924-9265-098C5EA8304E}" dt="2026-07-10T08:43:38.997" v="609" actId="14100"/>
          <ac:spMkLst>
            <pc:docMk/>
            <pc:sldMk cId="489174681" sldId="265"/>
            <ac:spMk id="4" creationId="{E3B5815F-4341-2A3D-A22D-8F6657D201F3}"/>
          </ac:spMkLst>
        </pc:spChg>
        <pc:spChg chg="add del">
          <ac:chgData name="Xero Dono" userId="6a7ddd05e1728e09" providerId="LiveId" clId="{9685C958-7EE1-4924-9265-098C5EA8304E}" dt="2026-07-10T08:42:44.919" v="584" actId="22"/>
          <ac:spMkLst>
            <pc:docMk/>
            <pc:sldMk cId="489174681" sldId="265"/>
            <ac:spMk id="6" creationId="{112492B6-14CF-CCB2-270B-7DF447BEF3C9}"/>
          </ac:spMkLst>
        </pc:spChg>
      </pc:sldChg>
      <pc:sldChg chg="addSp modSp mod">
        <pc:chgData name="Xero Dono" userId="6a7ddd05e1728e09" providerId="LiveId" clId="{9685C958-7EE1-4924-9265-098C5EA8304E}" dt="2026-07-10T09:01:40.958" v="696" actId="20577"/>
        <pc:sldMkLst>
          <pc:docMk/>
          <pc:sldMk cId="2904893737" sldId="267"/>
        </pc:sldMkLst>
        <pc:spChg chg="mod">
          <ac:chgData name="Xero Dono" userId="6a7ddd05e1728e09" providerId="LiveId" clId="{9685C958-7EE1-4924-9265-098C5EA8304E}" dt="2026-07-10T09:01:11.928" v="692" actId="1076"/>
          <ac:spMkLst>
            <pc:docMk/>
            <pc:sldMk cId="2904893737" sldId="267"/>
            <ac:spMk id="4" creationId="{E3B5815F-4341-2A3D-A22D-8F6657D201F3}"/>
          </ac:spMkLst>
        </pc:spChg>
        <pc:graphicFrameChg chg="add mod modGraphic">
          <ac:chgData name="Xero Dono" userId="6a7ddd05e1728e09" providerId="LiveId" clId="{9685C958-7EE1-4924-9265-098C5EA8304E}" dt="2026-07-10T09:01:40.958" v="696" actId="20577"/>
          <ac:graphicFrameMkLst>
            <pc:docMk/>
            <pc:sldMk cId="2904893737" sldId="267"/>
            <ac:graphicFrameMk id="2" creationId="{C3FD9B4A-3843-AA61-11F7-13EDEDD9B918}"/>
          </ac:graphicFrameMkLst>
        </pc:graphicFrameChg>
      </pc:sldChg>
      <pc:sldChg chg="addSp delSp modSp mod">
        <pc:chgData name="Xero Dono" userId="6a7ddd05e1728e09" providerId="LiveId" clId="{9685C958-7EE1-4924-9265-098C5EA8304E}" dt="2026-07-10T09:46:24.447" v="760" actId="20577"/>
        <pc:sldMkLst>
          <pc:docMk/>
          <pc:sldMk cId="1266268508" sldId="268"/>
        </pc:sldMkLst>
        <pc:spChg chg="mod">
          <ac:chgData name="Xero Dono" userId="6a7ddd05e1728e09" providerId="LiveId" clId="{9685C958-7EE1-4924-9265-098C5EA8304E}" dt="2026-07-10T09:41:18.513" v="703" actId="1076"/>
          <ac:spMkLst>
            <pc:docMk/>
            <pc:sldMk cId="1266268508" sldId="268"/>
            <ac:spMk id="4" creationId="{E3B5815F-4341-2A3D-A22D-8F6657D201F3}"/>
          </ac:spMkLst>
        </pc:spChg>
        <pc:graphicFrameChg chg="add del">
          <ac:chgData name="Xero Dono" userId="6a7ddd05e1728e09" providerId="LiveId" clId="{9685C958-7EE1-4924-9265-098C5EA8304E}" dt="2026-07-10T09:41:28.606" v="705" actId="3680"/>
          <ac:graphicFrameMkLst>
            <pc:docMk/>
            <pc:sldMk cId="1266268508" sldId="268"/>
            <ac:graphicFrameMk id="2" creationId="{1ABA992F-8C5F-0C01-B3F6-DBB239D0CDF2}"/>
          </ac:graphicFrameMkLst>
        </pc:graphicFrameChg>
        <pc:graphicFrameChg chg="add mod modGraphic">
          <ac:chgData name="Xero Dono" userId="6a7ddd05e1728e09" providerId="LiveId" clId="{9685C958-7EE1-4924-9265-098C5EA8304E}" dt="2026-07-10T09:46:24.447" v="760" actId="20577"/>
          <ac:graphicFrameMkLst>
            <pc:docMk/>
            <pc:sldMk cId="1266268508" sldId="268"/>
            <ac:graphicFrameMk id="3" creationId="{B0383939-F456-E876-6346-EAA7B03ABB2B}"/>
          </ac:graphicFrameMkLst>
        </pc:graphicFrameChg>
      </pc:sldChg>
      <pc:sldChg chg="addSp modSp mod">
        <pc:chgData name="Xero Dono" userId="6a7ddd05e1728e09" providerId="LiveId" clId="{9685C958-7EE1-4924-9265-098C5EA8304E}" dt="2026-07-10T08:08:50.475" v="450" actId="404"/>
        <pc:sldMkLst>
          <pc:docMk/>
          <pc:sldMk cId="2752457618" sldId="269"/>
        </pc:sldMkLst>
        <pc:spChg chg="mod">
          <ac:chgData name="Xero Dono" userId="6a7ddd05e1728e09" providerId="LiveId" clId="{9685C958-7EE1-4924-9265-098C5EA8304E}" dt="2026-07-10T08:08:05.719" v="441" actId="1076"/>
          <ac:spMkLst>
            <pc:docMk/>
            <pc:sldMk cId="2752457618" sldId="269"/>
            <ac:spMk id="7" creationId="{3A739E92-330D-944C-ED3E-C7F02FA216B3}"/>
          </ac:spMkLst>
        </pc:spChg>
        <pc:graphicFrameChg chg="add mod modGraphic">
          <ac:chgData name="Xero Dono" userId="6a7ddd05e1728e09" providerId="LiveId" clId="{9685C958-7EE1-4924-9265-098C5EA8304E}" dt="2026-07-10T08:08:50.475" v="450" actId="404"/>
          <ac:graphicFrameMkLst>
            <pc:docMk/>
            <pc:sldMk cId="2752457618" sldId="269"/>
            <ac:graphicFrameMk id="2" creationId="{794D66C1-76C3-0E61-986A-B593D40E8794}"/>
          </ac:graphicFrameMkLst>
        </pc:graphicFrameChg>
      </pc:sldChg>
      <pc:sldChg chg="addSp modSp mod">
        <pc:chgData name="Xero Dono" userId="6a7ddd05e1728e09" providerId="LiveId" clId="{9685C958-7EE1-4924-9265-098C5EA8304E}" dt="2026-07-10T08:35:35.966" v="489" actId="1076"/>
        <pc:sldMkLst>
          <pc:docMk/>
          <pc:sldMk cId="3405368746" sldId="270"/>
        </pc:sldMkLst>
        <pc:spChg chg="mod">
          <ac:chgData name="Xero Dono" userId="6a7ddd05e1728e09" providerId="LiveId" clId="{9685C958-7EE1-4924-9265-098C5EA8304E}" dt="2026-07-10T08:35:35.966" v="489" actId="1076"/>
          <ac:spMkLst>
            <pc:docMk/>
            <pc:sldMk cId="3405368746" sldId="270"/>
            <ac:spMk id="7" creationId="{3A739E92-330D-944C-ED3E-C7F02FA216B3}"/>
          </ac:spMkLst>
        </pc:spChg>
        <pc:graphicFrameChg chg="add mod modGraphic">
          <ac:chgData name="Xero Dono" userId="6a7ddd05e1728e09" providerId="LiveId" clId="{9685C958-7EE1-4924-9265-098C5EA8304E}" dt="2026-07-10T08:35:29.216" v="487" actId="1076"/>
          <ac:graphicFrameMkLst>
            <pc:docMk/>
            <pc:sldMk cId="3405368746" sldId="270"/>
            <ac:graphicFrameMk id="2" creationId="{B12919BA-F736-D329-CC87-BD00406FE073}"/>
          </ac:graphicFrameMkLst>
        </pc:graphicFrameChg>
      </pc:sldChg>
      <pc:sldChg chg="addSp delSp modSp new mod">
        <pc:chgData name="Xero Dono" userId="6a7ddd05e1728e09" providerId="LiveId" clId="{9685C958-7EE1-4924-9265-098C5EA8304E}" dt="2026-07-10T07:34:58.090" v="221" actId="14100"/>
        <pc:sldMkLst>
          <pc:docMk/>
          <pc:sldMk cId="2977299686" sldId="271"/>
        </pc:sldMkLst>
        <pc:spChg chg="mod">
          <ac:chgData name="Xero Dono" userId="6a7ddd05e1728e09" providerId="LiveId" clId="{9685C958-7EE1-4924-9265-098C5EA8304E}" dt="2026-07-10T07:33:14.575" v="197" actId="404"/>
          <ac:spMkLst>
            <pc:docMk/>
            <pc:sldMk cId="2977299686" sldId="271"/>
            <ac:spMk id="2" creationId="{49C13AB5-A76E-62AE-9C59-C6F3793B67FF}"/>
          </ac:spMkLst>
        </pc:spChg>
        <pc:spChg chg="del mod">
          <ac:chgData name="Xero Dono" userId="6a7ddd05e1728e09" providerId="LiveId" clId="{9685C958-7EE1-4924-9265-098C5EA8304E}" dt="2026-07-10T07:33:42.661" v="205" actId="478"/>
          <ac:spMkLst>
            <pc:docMk/>
            <pc:sldMk cId="2977299686" sldId="271"/>
            <ac:spMk id="3" creationId="{05292CB1-094E-249E-001B-9D5BFB960F9C}"/>
          </ac:spMkLst>
        </pc:spChg>
        <pc:spChg chg="add mod">
          <ac:chgData name="Xero Dono" userId="6a7ddd05e1728e09" providerId="LiveId" clId="{9685C958-7EE1-4924-9265-098C5EA8304E}" dt="2026-07-10T07:34:03.352" v="210" actId="1076"/>
          <ac:spMkLst>
            <pc:docMk/>
            <pc:sldMk cId="2977299686" sldId="271"/>
            <ac:spMk id="6" creationId="{E6BC485B-EE88-2ADB-E54F-A99F52E4F83E}"/>
          </ac:spMkLst>
        </pc:spChg>
        <pc:picChg chg="add">
          <ac:chgData name="Xero Dono" userId="6a7ddd05e1728e09" providerId="LiveId" clId="{9685C958-7EE1-4924-9265-098C5EA8304E}" dt="2026-07-10T07:30:45.371" v="189" actId="22"/>
          <ac:picMkLst>
            <pc:docMk/>
            <pc:sldMk cId="2977299686" sldId="271"/>
            <ac:picMk id="5" creationId="{3E685C6D-D106-FA85-330A-AB644A8AE16E}"/>
          </ac:picMkLst>
        </pc:picChg>
        <pc:picChg chg="add mod">
          <ac:chgData name="Xero Dono" userId="6a7ddd05e1728e09" providerId="LiveId" clId="{9685C958-7EE1-4924-9265-098C5EA8304E}" dt="2026-07-10T07:34:53.185" v="219" actId="1076"/>
          <ac:picMkLst>
            <pc:docMk/>
            <pc:sldMk cId="2977299686" sldId="271"/>
            <ac:picMk id="7" creationId="{185B99B7-497D-750B-ADC5-82176573ACF2}"/>
          </ac:picMkLst>
        </pc:picChg>
        <pc:picChg chg="add mod">
          <ac:chgData name="Xero Dono" userId="6a7ddd05e1728e09" providerId="LiveId" clId="{9685C958-7EE1-4924-9265-098C5EA8304E}" dt="2026-07-10T07:34:58.090" v="221" actId="14100"/>
          <ac:picMkLst>
            <pc:docMk/>
            <pc:sldMk cId="2977299686" sldId="271"/>
            <ac:picMk id="8" creationId="{4FFF44B5-BF0E-B684-3CDE-83E3B4456C2F}"/>
          </ac:picMkLst>
        </pc:picChg>
      </pc:sldChg>
      <pc:sldChg chg="new del">
        <pc:chgData name="Xero Dono" userId="6a7ddd05e1728e09" providerId="LiveId" clId="{9685C958-7EE1-4924-9265-098C5EA8304E}" dt="2026-07-10T07:35:33.633" v="223" actId="47"/>
        <pc:sldMkLst>
          <pc:docMk/>
          <pc:sldMk cId="799094032" sldId="272"/>
        </pc:sldMkLst>
      </pc:sldChg>
      <pc:sldChg chg="addSp delSp modSp add mod">
        <pc:chgData name="Xero Dono" userId="6a7ddd05e1728e09" providerId="LiveId" clId="{9685C958-7EE1-4924-9265-098C5EA8304E}" dt="2026-07-10T07:37:14.396" v="247" actId="1076"/>
        <pc:sldMkLst>
          <pc:docMk/>
          <pc:sldMk cId="857155444" sldId="272"/>
        </pc:sldMkLst>
        <pc:spChg chg="mod">
          <ac:chgData name="Xero Dono" userId="6a7ddd05e1728e09" providerId="LiveId" clId="{9685C958-7EE1-4924-9265-098C5EA8304E}" dt="2026-07-10T07:37:14.396" v="247" actId="1076"/>
          <ac:spMkLst>
            <pc:docMk/>
            <pc:sldMk cId="857155444" sldId="272"/>
            <ac:spMk id="2" creationId="{334E4B7A-4FCF-7F26-840D-C41BA22000D4}"/>
          </ac:spMkLst>
        </pc:spChg>
        <pc:spChg chg="mod">
          <ac:chgData name="Xero Dono" userId="6a7ddd05e1728e09" providerId="LiveId" clId="{9685C958-7EE1-4924-9265-098C5EA8304E}" dt="2026-07-10T07:37:01.409" v="246" actId="1076"/>
          <ac:spMkLst>
            <pc:docMk/>
            <pc:sldMk cId="857155444" sldId="272"/>
            <ac:spMk id="6" creationId="{AE27421D-C52F-2010-5C3F-F0F84FA2AB8F}"/>
          </ac:spMkLst>
        </pc:spChg>
        <pc:picChg chg="add mod">
          <ac:chgData name="Xero Dono" userId="6a7ddd05e1728e09" providerId="LiveId" clId="{9685C958-7EE1-4924-9265-098C5EA8304E}" dt="2026-07-10T07:36:54.719" v="244" actId="1076"/>
          <ac:picMkLst>
            <pc:docMk/>
            <pc:sldMk cId="857155444" sldId="272"/>
            <ac:picMk id="3" creationId="{0617A15D-D57C-D197-D662-44D46F350720}"/>
          </ac:picMkLst>
        </pc:picChg>
        <pc:picChg chg="del">
          <ac:chgData name="Xero Dono" userId="6a7ddd05e1728e09" providerId="LiveId" clId="{9685C958-7EE1-4924-9265-098C5EA8304E}" dt="2026-07-10T07:35:52.899" v="228" actId="478"/>
          <ac:picMkLst>
            <pc:docMk/>
            <pc:sldMk cId="857155444" sldId="272"/>
            <ac:picMk id="7" creationId="{22C0A476-EF25-03C0-CC6C-2C6F722D470F}"/>
          </ac:picMkLst>
        </pc:picChg>
        <pc:picChg chg="del">
          <ac:chgData name="Xero Dono" userId="6a7ddd05e1728e09" providerId="LiveId" clId="{9685C958-7EE1-4924-9265-098C5EA8304E}" dt="2026-07-10T07:35:53.910" v="229" actId="478"/>
          <ac:picMkLst>
            <pc:docMk/>
            <pc:sldMk cId="857155444" sldId="272"/>
            <ac:picMk id="8" creationId="{55282595-7E21-6C89-8B73-BB7EF68B4647}"/>
          </ac:picMkLst>
        </pc:picChg>
      </pc:sldChg>
      <pc:sldChg chg="new del">
        <pc:chgData name="Xero Dono" userId="6a7ddd05e1728e09" providerId="LiveId" clId="{9685C958-7EE1-4924-9265-098C5EA8304E}" dt="2026-07-10T07:37:47.072" v="249" actId="47"/>
        <pc:sldMkLst>
          <pc:docMk/>
          <pc:sldMk cId="3124401514" sldId="273"/>
        </pc:sldMkLst>
      </pc:sldChg>
      <pc:sldChg chg="addSp delSp modSp add mod">
        <pc:chgData name="Xero Dono" userId="6a7ddd05e1728e09" providerId="LiveId" clId="{9685C958-7EE1-4924-9265-098C5EA8304E}" dt="2026-07-10T07:41:51.989" v="304" actId="1076"/>
        <pc:sldMkLst>
          <pc:docMk/>
          <pc:sldMk cId="3772350755" sldId="273"/>
        </pc:sldMkLst>
        <pc:spChg chg="mod">
          <ac:chgData name="Xero Dono" userId="6a7ddd05e1728e09" providerId="LiveId" clId="{9685C958-7EE1-4924-9265-098C5EA8304E}" dt="2026-07-10T07:38:09.350" v="254" actId="404"/>
          <ac:spMkLst>
            <pc:docMk/>
            <pc:sldMk cId="3772350755" sldId="273"/>
            <ac:spMk id="2" creationId="{F593AF97-03C6-F791-F21B-E898E23E9EF9}"/>
          </ac:spMkLst>
        </pc:spChg>
        <pc:spChg chg="mod">
          <ac:chgData name="Xero Dono" userId="6a7ddd05e1728e09" providerId="LiveId" clId="{9685C958-7EE1-4924-9265-098C5EA8304E}" dt="2026-07-10T07:41:12.717" v="292" actId="14100"/>
          <ac:spMkLst>
            <pc:docMk/>
            <pc:sldMk cId="3772350755" sldId="273"/>
            <ac:spMk id="6" creationId="{820E5280-53FD-B6F6-C8AE-C41CE0F53E47}"/>
          </ac:spMkLst>
        </pc:spChg>
        <pc:picChg chg="del">
          <ac:chgData name="Xero Dono" userId="6a7ddd05e1728e09" providerId="LiveId" clId="{9685C958-7EE1-4924-9265-098C5EA8304E}" dt="2026-07-10T07:38:43.299" v="261" actId="478"/>
          <ac:picMkLst>
            <pc:docMk/>
            <pc:sldMk cId="3772350755" sldId="273"/>
            <ac:picMk id="3" creationId="{759466A3-EBFF-8C61-3B86-08DC4AFF03D9}"/>
          </ac:picMkLst>
        </pc:picChg>
        <pc:picChg chg="add mod">
          <ac:chgData name="Xero Dono" userId="6a7ddd05e1728e09" providerId="LiveId" clId="{9685C958-7EE1-4924-9265-098C5EA8304E}" dt="2026-07-10T07:41:35.082" v="303" actId="1076"/>
          <ac:picMkLst>
            <pc:docMk/>
            <pc:sldMk cId="3772350755" sldId="273"/>
            <ac:picMk id="4" creationId="{4BD8385B-8B0F-8EEF-6DD5-EB5ABE6FADB7}"/>
          </ac:picMkLst>
        </pc:picChg>
        <pc:picChg chg="add del mod modCrop">
          <ac:chgData name="Xero Dono" userId="6a7ddd05e1728e09" providerId="LiveId" clId="{9685C958-7EE1-4924-9265-098C5EA8304E}" dt="2026-07-10T07:41:21.690" v="297" actId="478"/>
          <ac:picMkLst>
            <pc:docMk/>
            <pc:sldMk cId="3772350755" sldId="273"/>
            <ac:picMk id="7" creationId="{5E065E3F-69CD-C208-6BD7-F76E3FD0A6EB}"/>
          </ac:picMkLst>
        </pc:picChg>
        <pc:picChg chg="add del mod modCrop">
          <ac:chgData name="Xero Dono" userId="6a7ddd05e1728e09" providerId="LiveId" clId="{9685C958-7EE1-4924-9265-098C5EA8304E}" dt="2026-07-10T07:41:19.553" v="295" actId="478"/>
          <ac:picMkLst>
            <pc:docMk/>
            <pc:sldMk cId="3772350755" sldId="273"/>
            <ac:picMk id="9" creationId="{DB96CD72-D42B-7AC2-CFCE-B9C41ED4B3E8}"/>
          </ac:picMkLst>
        </pc:picChg>
        <pc:picChg chg="add mod">
          <ac:chgData name="Xero Dono" userId="6a7ddd05e1728e09" providerId="LiveId" clId="{9685C958-7EE1-4924-9265-098C5EA8304E}" dt="2026-07-10T07:41:51.989" v="304" actId="1076"/>
          <ac:picMkLst>
            <pc:docMk/>
            <pc:sldMk cId="3772350755" sldId="273"/>
            <ac:picMk id="11" creationId="{44BE6C61-4029-2932-AD8E-411D6715953B}"/>
          </ac:picMkLst>
        </pc:picChg>
      </pc:sldChg>
      <pc:sldChg chg="new del">
        <pc:chgData name="Xero Dono" userId="6a7ddd05e1728e09" providerId="LiveId" clId="{9685C958-7EE1-4924-9265-098C5EA8304E}" dt="2026-07-10T07:39:19.505" v="270" actId="47"/>
        <pc:sldMkLst>
          <pc:docMk/>
          <pc:sldMk cId="1604111968" sldId="274"/>
        </pc:sldMkLst>
      </pc:sldChg>
      <pc:sldChg chg="addSp delSp modSp add mod">
        <pc:chgData name="Xero Dono" userId="6a7ddd05e1728e09" providerId="LiveId" clId="{9685C958-7EE1-4924-9265-098C5EA8304E}" dt="2026-07-10T07:44:44.161" v="355" actId="20577"/>
        <pc:sldMkLst>
          <pc:docMk/>
          <pc:sldMk cId="2241040763" sldId="274"/>
        </pc:sldMkLst>
        <pc:spChg chg="mod">
          <ac:chgData name="Xero Dono" userId="6a7ddd05e1728e09" providerId="LiveId" clId="{9685C958-7EE1-4924-9265-098C5EA8304E}" dt="2026-07-10T07:43:38.242" v="329" actId="20577"/>
          <ac:spMkLst>
            <pc:docMk/>
            <pc:sldMk cId="2241040763" sldId="274"/>
            <ac:spMk id="2" creationId="{F0F1EC81-D625-C9F4-CC00-25F5EF7344ED}"/>
          </ac:spMkLst>
        </pc:spChg>
        <pc:spChg chg="mod">
          <ac:chgData name="Xero Dono" userId="6a7ddd05e1728e09" providerId="LiveId" clId="{9685C958-7EE1-4924-9265-098C5EA8304E}" dt="2026-07-10T07:44:44.161" v="355" actId="20577"/>
          <ac:spMkLst>
            <pc:docMk/>
            <pc:sldMk cId="2241040763" sldId="274"/>
            <ac:spMk id="6" creationId="{5F5B47B5-F298-3FE1-9A34-ABAEF84D7472}"/>
          </ac:spMkLst>
        </pc:spChg>
        <pc:picChg chg="add mod">
          <ac:chgData name="Xero Dono" userId="6a7ddd05e1728e09" providerId="LiveId" clId="{9685C958-7EE1-4924-9265-098C5EA8304E}" dt="2026-07-10T07:44:28.904" v="340" actId="14100"/>
          <ac:picMkLst>
            <pc:docMk/>
            <pc:sldMk cId="2241040763" sldId="274"/>
            <ac:picMk id="3" creationId="{C5B545AB-EED0-B05C-91E4-2EEBE8A05DFF}"/>
          </ac:picMkLst>
        </pc:picChg>
        <pc:picChg chg="del">
          <ac:chgData name="Xero Dono" userId="6a7ddd05e1728e09" providerId="LiveId" clId="{9685C958-7EE1-4924-9265-098C5EA8304E}" dt="2026-07-10T07:43:52.574" v="333" actId="478"/>
          <ac:picMkLst>
            <pc:docMk/>
            <pc:sldMk cId="2241040763" sldId="274"/>
            <ac:picMk id="4" creationId="{CEB5D306-F000-5B6A-EB1A-95CC8C624C03}"/>
          </ac:picMkLst>
        </pc:picChg>
      </pc:sldChg>
      <pc:sldChg chg="new del">
        <pc:chgData name="Xero Dono" userId="6a7ddd05e1728e09" providerId="LiveId" clId="{9685C958-7EE1-4924-9265-098C5EA8304E}" dt="2026-07-10T07:39:09.060" v="268" actId="47"/>
        <pc:sldMkLst>
          <pc:docMk/>
          <pc:sldMk cId="2923468458" sldId="274"/>
        </pc:sldMkLst>
      </pc:sldChg>
      <pc:sldChg chg="addSp delSp modSp add mod">
        <pc:chgData name="Xero Dono" userId="6a7ddd05e1728e09" providerId="LiveId" clId="{9685C958-7EE1-4924-9265-098C5EA8304E}" dt="2026-07-10T07:59:25.566" v="405" actId="20577"/>
        <pc:sldMkLst>
          <pc:docMk/>
          <pc:sldMk cId="2112894959" sldId="275"/>
        </pc:sldMkLst>
        <pc:spChg chg="mod">
          <ac:chgData name="Xero Dono" userId="6a7ddd05e1728e09" providerId="LiveId" clId="{9685C958-7EE1-4924-9265-098C5EA8304E}" dt="2026-07-10T07:45:03.080" v="373" actId="20577"/>
          <ac:spMkLst>
            <pc:docMk/>
            <pc:sldMk cId="2112894959" sldId="275"/>
            <ac:spMk id="2" creationId="{7CDBBD82-E4F4-638D-D632-412C5A570546}"/>
          </ac:spMkLst>
        </pc:spChg>
        <pc:spChg chg="mod">
          <ac:chgData name="Xero Dono" userId="6a7ddd05e1728e09" providerId="LiveId" clId="{9685C958-7EE1-4924-9265-098C5EA8304E}" dt="2026-07-10T07:59:25.566" v="405" actId="20577"/>
          <ac:spMkLst>
            <pc:docMk/>
            <pc:sldMk cId="2112894959" sldId="275"/>
            <ac:spMk id="6" creationId="{C9A3B912-B3B7-3212-82FE-EB97B7FBC344}"/>
          </ac:spMkLst>
        </pc:spChg>
        <pc:spChg chg="add del">
          <ac:chgData name="Xero Dono" userId="6a7ddd05e1728e09" providerId="LiveId" clId="{9685C958-7EE1-4924-9265-098C5EA8304E}" dt="2026-07-10T07:45:43.976" v="382" actId="478"/>
          <ac:spMkLst>
            <pc:docMk/>
            <pc:sldMk cId="2112894959" sldId="275"/>
            <ac:spMk id="7" creationId="{12B4B0D5-B82D-B1B0-7CB6-D559008DF459}"/>
          </ac:spMkLst>
        </pc:spChg>
        <pc:spChg chg="add del mod">
          <ac:chgData name="Xero Dono" userId="6a7ddd05e1728e09" providerId="LiveId" clId="{9685C958-7EE1-4924-9265-098C5EA8304E}" dt="2026-07-10T07:45:42.666" v="381" actId="478"/>
          <ac:spMkLst>
            <pc:docMk/>
            <pc:sldMk cId="2112894959" sldId="275"/>
            <ac:spMk id="9" creationId="{57F73BE1-7B20-8D6B-D0DF-91866295AD3A}"/>
          </ac:spMkLst>
        </pc:spChg>
        <pc:picChg chg="del">
          <ac:chgData name="Xero Dono" userId="6a7ddd05e1728e09" providerId="LiveId" clId="{9685C958-7EE1-4924-9265-098C5EA8304E}" dt="2026-07-10T07:45:51.893" v="386" actId="478"/>
          <ac:picMkLst>
            <pc:docMk/>
            <pc:sldMk cId="2112894959" sldId="275"/>
            <ac:picMk id="3" creationId="{48D10890-45B4-C0A1-FD73-8A03E1F0195D}"/>
          </ac:picMkLst>
        </pc:picChg>
        <pc:picChg chg="add mod">
          <ac:chgData name="Xero Dono" userId="6a7ddd05e1728e09" providerId="LiveId" clId="{9685C958-7EE1-4924-9265-098C5EA8304E}" dt="2026-07-10T07:46:39.753" v="390" actId="1076"/>
          <ac:picMkLst>
            <pc:docMk/>
            <pc:sldMk cId="2112894959" sldId="275"/>
            <ac:picMk id="10" creationId="{D2B70C4E-EEF3-71DE-6968-F0F791ABB692}"/>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image" Target="../media/image2.jp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MX" dirty="0"/>
            <a:t>Nombre de estudiante: </a:t>
          </a:r>
          <a:r>
            <a:rPr lang="es-CL" dirty="0"/>
            <a:t>Bastián González Flores</a:t>
          </a:r>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MX" dirty="0"/>
            <a:t>Cargo: </a:t>
          </a:r>
          <a:r>
            <a:rPr lang="es-CL" dirty="0"/>
            <a:t>Jefe de Proyecto y Analista de Requerimientos</a:t>
          </a:r>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2E221207-005F-49CB-81E1-6D036D64322B}">
      <dgm:prSet phldrT="[Texto]"/>
      <dgm:spPr/>
      <dgm:t>
        <a:bodyPr/>
        <a:lstStyle/>
        <a:p>
          <a:r>
            <a:rPr lang="es-MX" dirty="0"/>
            <a:t>Funciones desempeñadas: </a:t>
          </a:r>
          <a:r>
            <a:rPr lang="es-CL" dirty="0"/>
            <a:t>Planificación (Carta Gantt), análisis del caso de negocio y definición del alcance.</a:t>
          </a:r>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99FF0D0F-282A-4030-9AF5-3B7621881539}">
      <dgm:prSet phldrT="[Texto]"/>
      <dgm:spPr/>
      <dgm:t>
        <a:bodyPr/>
        <a:lstStyle/>
        <a:p>
          <a:r>
            <a:rPr lang="es-MX" dirty="0"/>
            <a:t>Nombre de estudiante: </a:t>
          </a:r>
          <a:r>
            <a:rPr lang="es-CL" dirty="0"/>
            <a:t>Bastián González Flores</a:t>
          </a:r>
        </a:p>
      </dgm:t>
    </dgm:pt>
    <dgm:pt modelId="{1CCC8D2D-CD28-4814-B055-28ABD65CA276}" type="sibTrans" cxnId="{4FE7AF63-70AC-4ED4-8BFB-DCB2408F3318}">
      <dgm:prSet/>
      <dgm:spPr/>
      <dgm:t>
        <a:bodyPr/>
        <a:lstStyle/>
        <a:p>
          <a:endParaRPr lang="es-CL"/>
        </a:p>
      </dgm:t>
    </dgm:pt>
    <dgm:pt modelId="{A86F315C-C500-49D7-B443-1D58BD48589A}" type="parTrans" cxnId="{4FE7AF63-70AC-4ED4-8BFB-DCB2408F3318}">
      <dgm:prSet/>
      <dgm:spPr/>
      <dgm:t>
        <a:bodyPr/>
        <a:lstStyle/>
        <a:p>
          <a:endParaRPr lang="es-CL"/>
        </a:p>
      </dgm:t>
    </dgm:pt>
    <dgm:pt modelId="{A2BD12B5-7AB5-4859-B57E-1E77C0ED35DF}">
      <dgm:prSet phldrT="[Texto]"/>
      <dgm:spPr/>
      <dgm:t>
        <a:bodyPr/>
        <a:lstStyle/>
        <a:p>
          <a:r>
            <a:rPr lang="es-MX" dirty="0"/>
            <a:t>Cargo: </a:t>
          </a:r>
          <a:r>
            <a:rPr lang="es-CL" dirty="0"/>
            <a:t>Desarrollador de prototipo</a:t>
          </a:r>
        </a:p>
      </dgm:t>
    </dgm:pt>
    <dgm:pt modelId="{35EEEEB1-B116-40C6-8142-8F938AF38B0B}" type="sibTrans" cxnId="{D5771F2D-99A4-4884-A896-FA1E2DEFDD88}">
      <dgm:prSet/>
      <dgm:spPr/>
      <dgm:t>
        <a:bodyPr/>
        <a:lstStyle/>
        <a:p>
          <a:endParaRPr lang="es-CL"/>
        </a:p>
      </dgm:t>
    </dgm:pt>
    <dgm:pt modelId="{AC7F7F07-A811-4CCD-BBFE-DAA4D1F5EE40}" type="parTrans" cxnId="{D5771F2D-99A4-4884-A896-FA1E2DEFDD88}">
      <dgm:prSet/>
      <dgm:spPr/>
      <dgm:t>
        <a:bodyPr/>
        <a:lstStyle/>
        <a:p>
          <a:endParaRPr lang="es-CL"/>
        </a:p>
      </dgm:t>
    </dgm:pt>
    <dgm:pt modelId="{D546635F-000B-49DF-BB26-293CCA777400}">
      <dgm:prSet phldrT="[Texto]"/>
      <dgm:spPr/>
      <dgm:t>
        <a:bodyPr/>
        <a:lstStyle/>
        <a:p>
          <a:r>
            <a:rPr lang="es-MX" dirty="0"/>
            <a:t>Funciones desempeñadas: </a:t>
          </a:r>
          <a:r>
            <a:rPr lang="es-CL" dirty="0"/>
            <a:t>Creación del prototipo de alta fidelidad, aplicación de heurísticas de usabilidad y diseño del plan de pruebas.</a:t>
          </a:r>
        </a:p>
      </dgm:t>
    </dgm:pt>
    <dgm:pt modelId="{B01A0825-9EDF-4B9A-B345-1B486D914AD4}" type="sibTrans" cxnId="{AC0A7FF3-EEC4-470A-823E-BF7AF1556A99}">
      <dgm:prSet/>
      <dgm:spPr/>
      <dgm:t>
        <a:bodyPr/>
        <a:lstStyle/>
        <a:p>
          <a:endParaRPr lang="es-CL"/>
        </a:p>
      </dgm:t>
    </dgm:pt>
    <dgm:pt modelId="{5437D343-BECF-4620-B6C7-7088D8BBD91B}" type="parTrans" cxnId="{AC0A7FF3-EEC4-470A-823E-BF7AF1556A99}">
      <dgm:prSet/>
      <dgm:spPr/>
      <dgm:t>
        <a:bodyPr/>
        <a:lstStyle/>
        <a:p>
          <a:endParaRPr lang="es-CL"/>
        </a:p>
      </dgm:t>
    </dgm:pt>
    <dgm:pt modelId="{02A34BC0-F8BA-4A89-87A4-4F20079DFD06}">
      <dgm:prSet phldrT="[Texto]"/>
      <dgm:spPr/>
      <dgm:t>
        <a:bodyPr/>
        <a:lstStyle/>
        <a:p>
          <a:r>
            <a:rPr lang="es-MX" dirty="0"/>
            <a:t>Nombre de estudiante: </a:t>
          </a:r>
          <a:r>
            <a:rPr lang="es-CL" dirty="0"/>
            <a:t>Bastián González Flores</a:t>
          </a:r>
        </a:p>
      </dgm:t>
    </dgm:pt>
    <dgm:pt modelId="{44AB630E-CD8B-4223-9F51-5EEE4E054B0A}" type="sibTrans" cxnId="{0E2AE979-A66C-4CEC-BFF4-5B28BB7CD9EA}">
      <dgm:prSet/>
      <dgm:spPr/>
      <dgm:t>
        <a:bodyPr/>
        <a:lstStyle/>
        <a:p>
          <a:endParaRPr lang="es-CL"/>
        </a:p>
      </dgm:t>
    </dgm:pt>
    <dgm:pt modelId="{9ADB496F-2DB6-4F16-8C91-2EB9CDF5F2F2}" type="parTrans" cxnId="{0E2AE979-A66C-4CEC-BFF4-5B28BB7CD9EA}">
      <dgm:prSet/>
      <dgm:spPr/>
      <dgm:t>
        <a:bodyPr/>
        <a:lstStyle/>
        <a:p>
          <a:endParaRPr lang="es-CL"/>
        </a:p>
      </dgm:t>
    </dgm:pt>
    <dgm:pt modelId="{EA3B2395-55AF-495E-9D6B-329D2886612F}">
      <dgm:prSet phldrT="[Texto]"/>
      <dgm:spPr/>
      <dgm:t>
        <a:bodyPr/>
        <a:lstStyle/>
        <a:p>
          <a:r>
            <a:rPr lang="es-MX" dirty="0"/>
            <a:t>Cargo: </a:t>
          </a:r>
          <a:r>
            <a:rPr lang="es-CL" dirty="0"/>
            <a:t>Arquitecto de Software</a:t>
          </a:r>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MX" dirty="0"/>
            <a:t>Funciones desempeñadas: </a:t>
          </a:r>
          <a:r>
            <a:rPr lang="es-CL" dirty="0"/>
            <a:t>Diseño del Modelo 4+1 (Vistas lógica, de procesos, etc.), elaboración de diagramas UML (Casos de Uso, Clases</a:t>
          </a:r>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3" custLinFactNeighborX="-464" custLinFactNeighborY="-864"/>
      <dgm:spPr/>
    </dgm:pt>
    <dgm:pt modelId="{9A7E2690-DE9C-4572-9BE5-B8C9A3B8BBB3}" type="pres">
      <dgm:prSet presAssocID="{78BFB295-8F5D-4286-B72B-79142F8F0E13}" presName="img" presStyleLbl="fgImgPlace1" presStyleIdx="0" presStyleCnt="3"/>
      <dgm:spPr>
        <a:blipFill>
          <a:blip xmlns:r="http://schemas.openxmlformats.org/officeDocument/2006/relationships" r:embed="rId1"/>
          <a:srcRect/>
          <a:stretch>
            <a:fillRect t="-1000" b="-1000"/>
          </a:stretch>
        </a:blipFill>
      </dgm:spPr>
    </dgm:pt>
    <dgm:pt modelId="{52D125D2-FCA7-4A2D-AB39-B6BD54F251F2}" type="pres">
      <dgm:prSet presAssocID="{78BFB295-8F5D-4286-B72B-79142F8F0E13}" presName="text" presStyleLbl="node1" presStyleIdx="0" presStyleCnt="3">
        <dgm:presLayoutVars>
          <dgm:bulletEnabled val="1"/>
        </dgm:presLayoutVars>
      </dgm:prSet>
      <dgm:spPr/>
    </dgm:pt>
    <dgm:pt modelId="{E95CA29D-745B-40BA-93B6-BB607C99A2CE}" type="pres">
      <dgm:prSet presAssocID="{E88D0928-51D4-4670-8963-60ABBB193E13}"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1" presStyleCnt="3"/>
      <dgm:spPr/>
    </dgm:pt>
    <dgm:pt modelId="{3F97C059-D720-4D48-953F-B84D04D0BF79}" type="pres">
      <dgm:prSet presAssocID="{02A34BC0-F8BA-4A89-87A4-4F20079DFD06}" presName="img" presStyleLbl="fgImgPlace1" presStyleIdx="1" presStyleCnt="3"/>
      <dgm:spPr>
        <a:blipFill>
          <a:blip xmlns:r="http://schemas.openxmlformats.org/officeDocument/2006/relationships" r:embed="rId2"/>
          <a:srcRect/>
          <a:stretch>
            <a:fillRect t="-20000" b="-20000"/>
          </a:stretch>
        </a:blipFill>
      </dgm:spPr>
    </dgm:pt>
    <dgm:pt modelId="{CFFDF23F-D296-4CDF-8EE4-8A672559E207}" type="pres">
      <dgm:prSet presAssocID="{02A34BC0-F8BA-4A89-87A4-4F20079DFD06}" presName="text" presStyleLbl="node1" presStyleIdx="1" presStyleCnt="3">
        <dgm:presLayoutVars>
          <dgm:bulletEnabled val="1"/>
        </dgm:presLayoutVars>
      </dgm:prSet>
      <dgm:spPr/>
    </dgm:pt>
    <dgm:pt modelId="{40453781-DACE-4118-ADC4-2B966E9374E5}" type="pres">
      <dgm:prSet presAssocID="{44AB630E-CD8B-4223-9F51-5EEE4E054B0A}" presName="spacer" presStyleCnt="0"/>
      <dgm:spPr/>
    </dgm:pt>
    <dgm:pt modelId="{536722F8-2BA5-41A1-87DF-BBB1AF7DCA80}" type="pres">
      <dgm:prSet presAssocID="{99FF0D0F-282A-4030-9AF5-3B7621881539}" presName="comp" presStyleCnt="0"/>
      <dgm:spPr/>
    </dgm:pt>
    <dgm:pt modelId="{F36F4ED1-B414-46B8-A8C5-C0FB11F5CFBC}" type="pres">
      <dgm:prSet presAssocID="{99FF0D0F-282A-4030-9AF5-3B7621881539}" presName="box" presStyleLbl="node1" presStyleIdx="2" presStyleCnt="3"/>
      <dgm:spPr/>
    </dgm:pt>
    <dgm:pt modelId="{7C6A764B-C67C-494C-B90E-7B3C3DDE54A4}" type="pres">
      <dgm:prSet presAssocID="{99FF0D0F-282A-4030-9AF5-3B7621881539}" presName="img"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t="-20000" b="-20000"/>
          </a:stretch>
        </a:blipFill>
      </dgm:spPr>
    </dgm:pt>
    <dgm:pt modelId="{0E12AD21-08CC-4736-A269-DD5234F9D874}" type="pres">
      <dgm:prSet presAssocID="{99FF0D0F-282A-4030-9AF5-3B7621881539}" presName="text" presStyleLbl="node1" presStyleIdx="2" presStyleCnt="3">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D5771F2D-99A4-4884-A896-FA1E2DEFDD88}" srcId="{99FF0D0F-282A-4030-9AF5-3B7621881539}" destId="{A2BD12B5-7AB5-4859-B57E-1E77C0ED35DF}" srcOrd="0" destOrd="0" parTransId="{AC7F7F07-A811-4CCD-BBFE-DAA4D1F5EE40}" sibTransId="{35EEEEB1-B116-40C6-8142-8F938AF38B0B}"/>
    <dgm:cxn modelId="{3A21ED2D-BFFE-4942-BD04-AB5B9DC419E5}" type="presOf" srcId="{99FF0D0F-282A-4030-9AF5-3B7621881539}" destId="{F36F4ED1-B414-46B8-A8C5-C0FB11F5CFBC}"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040FC75B-63D6-4205-A996-7A824AA266CE}" type="presOf" srcId="{A2BD12B5-7AB5-4859-B57E-1E77C0ED35DF}" destId="{0E12AD21-08CC-4736-A269-DD5234F9D874}" srcOrd="1" destOrd="1" presId="urn:microsoft.com/office/officeart/2005/8/layout/vList4"/>
    <dgm:cxn modelId="{22F3405C-AB8E-4AC3-A83C-C551BA0831ED}" type="presOf" srcId="{55A2A9EB-4C26-43C3-B721-D475B10BC39B}" destId="{39AFE128-ACF6-44CA-B18B-64F5782CF210}" srcOrd="0" destOrd="2" presId="urn:microsoft.com/office/officeart/2005/8/layout/vList4"/>
    <dgm:cxn modelId="{7E8FC05E-FE02-4336-B1F8-3EAA05519A49}" type="presOf" srcId="{D868444B-AE34-4422-A6A5-1F7D392D0C20}" destId="{54FC4CB6-0791-48D3-B2C5-2E99B8AFCFF7}" srcOrd="0" destOrd="1" presId="urn:microsoft.com/office/officeart/2005/8/layout/vList4"/>
    <dgm:cxn modelId="{4FE7AF63-70AC-4ED4-8BFB-DCB2408F3318}" srcId="{BE45140C-C326-4DAA-A267-498AD5117D68}" destId="{99FF0D0F-282A-4030-9AF5-3B7621881539}" srcOrd="2" destOrd="0" parTransId="{A86F315C-C500-49D7-B443-1D58BD48589A}" sibTransId="{1CCC8D2D-CD28-4814-B055-28ABD65CA276}"/>
    <dgm:cxn modelId="{3F2A6752-A5BB-4F63-B720-93C45E0B4F56}" type="presOf" srcId="{D546635F-000B-49DF-BB26-293CCA777400}" destId="{F36F4ED1-B414-46B8-A8C5-C0FB11F5CFBC}" srcOrd="0" destOrd="2" presId="urn:microsoft.com/office/officeart/2005/8/layout/vList4"/>
    <dgm:cxn modelId="{DC02AD53-682D-464B-9D09-C1B6DCD5AFB0}" type="presOf" srcId="{55A2A9EB-4C26-43C3-B721-D475B10BC39B}" destId="{CFFDF23F-D296-4CDF-8EE4-8A672559E207}" srcOrd="1" destOrd="2" presId="urn:microsoft.com/office/officeart/2005/8/layout/vList4"/>
    <dgm:cxn modelId="{0E2AE979-A66C-4CEC-BFF4-5B28BB7CD9EA}" srcId="{BE45140C-C326-4DAA-A267-498AD5117D68}" destId="{02A34BC0-F8BA-4A89-87A4-4F20079DFD06}" srcOrd="1"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FBEF4C9A-E5D4-462C-B35F-96C87426BEAB}" type="presOf" srcId="{A2BD12B5-7AB5-4859-B57E-1E77C0ED35DF}" destId="{F36F4ED1-B414-46B8-A8C5-C0FB11F5CFBC}" srcOrd="0" destOrd="1" presId="urn:microsoft.com/office/officeart/2005/8/layout/vList4"/>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67DE09B5-392E-4661-A7AE-A0572D63DA68}" type="presOf" srcId="{99FF0D0F-282A-4030-9AF5-3B7621881539}" destId="{0E12AD21-08CC-4736-A269-DD5234F9D874}" srcOrd="1" destOrd="0"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FE5360C5-555C-42B2-9E63-16D2D46F21B1}" type="presOf" srcId="{D868444B-AE34-4422-A6A5-1F7D392D0C20}" destId="{52D125D2-FCA7-4A2D-AB39-B6BD54F251F2}" srcOrd="1" destOrd="1"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D1C04ECF-982A-425F-B2B1-9CF15BCEB83B}" type="presOf" srcId="{D546635F-000B-49DF-BB26-293CCA777400}" destId="{0E12AD21-08CC-4736-A269-DD5234F9D874}" srcOrd="1" destOrd="2" presId="urn:microsoft.com/office/officeart/2005/8/layout/vList4"/>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AC0A7FF3-EEC4-470A-823E-BF7AF1556A99}" srcId="{99FF0D0F-282A-4030-9AF5-3B7621881539}" destId="{D546635F-000B-49DF-BB26-293CCA777400}" srcOrd="1" destOrd="0" parTransId="{5437D343-BECF-4620-B6C7-7088D8BBD91B}" sibTransId="{B01A0825-9EDF-4B9A-B345-1B486D914AD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158F6488-FF9D-4053-8FD1-E0DD5F22ECAD}" type="presParOf" srcId="{6E1E561E-88C1-49C6-A3F7-DE4B9AD43273}" destId="{41A67AC8-1DD7-4AB7-96A3-87B24035E3FA}" srcOrd="2"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 modelId="{C9CD1524-D5D2-47DD-A731-469F83B73691}" type="presParOf" srcId="{6E1E561E-88C1-49C6-A3F7-DE4B9AD43273}" destId="{40453781-DACE-4118-ADC4-2B966E9374E5}" srcOrd="3" destOrd="0" presId="urn:microsoft.com/office/officeart/2005/8/layout/vList4"/>
    <dgm:cxn modelId="{D2619F68-F71E-4DB7-B3E4-C0C69EDAA7FE}" type="presParOf" srcId="{6E1E561E-88C1-49C6-A3F7-DE4B9AD43273}" destId="{536722F8-2BA5-41A1-87DF-BBB1AF7DCA80}" srcOrd="4" destOrd="0" presId="urn:microsoft.com/office/officeart/2005/8/layout/vList4"/>
    <dgm:cxn modelId="{AFABECF8-EB39-4A9E-BB52-4A457A2CDD0A}" type="presParOf" srcId="{536722F8-2BA5-41A1-87DF-BBB1AF7DCA80}" destId="{F36F4ED1-B414-46B8-A8C5-C0FB11F5CFBC}" srcOrd="0" destOrd="0" presId="urn:microsoft.com/office/officeart/2005/8/layout/vList4"/>
    <dgm:cxn modelId="{F3A74078-C1EC-4C6F-B1ED-565182E04087}" type="presParOf" srcId="{536722F8-2BA5-41A1-87DF-BBB1AF7DCA80}" destId="{7C6A764B-C67C-494C-B90E-7B3C3DDE54A4}" srcOrd="1" destOrd="0" presId="urn:microsoft.com/office/officeart/2005/8/layout/vList4"/>
    <dgm:cxn modelId="{1973AF99-46F9-4317-B911-25815C189087}" type="presParOf" srcId="{536722F8-2BA5-41A1-87DF-BBB1AF7DCA80}" destId="{0E12AD21-08CC-4736-A269-DD5234F9D87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135954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kern="1200" dirty="0"/>
            <a:t>Nombre de estudiante: </a:t>
          </a:r>
          <a:r>
            <a:rPr lang="es-CL" sz="1900" kern="1200" dirty="0"/>
            <a:t>Bastián González Flores</a:t>
          </a:r>
        </a:p>
        <a:p>
          <a:pPr marL="114300" lvl="1" indent="-114300" algn="l" defTabSz="666750">
            <a:lnSpc>
              <a:spcPct val="90000"/>
            </a:lnSpc>
            <a:spcBef>
              <a:spcPct val="0"/>
            </a:spcBef>
            <a:spcAft>
              <a:spcPct val="15000"/>
            </a:spcAft>
            <a:buChar char="•"/>
          </a:pPr>
          <a:r>
            <a:rPr lang="es-MX" sz="1500" kern="1200" dirty="0"/>
            <a:t>Cargo: </a:t>
          </a:r>
          <a:r>
            <a:rPr lang="es-CL" sz="1500" kern="1200" dirty="0"/>
            <a:t>Jefe de Proyecto y Analista de Requerimientos</a:t>
          </a:r>
        </a:p>
        <a:p>
          <a:pPr marL="114300" lvl="1" indent="-114300" algn="l" defTabSz="666750">
            <a:lnSpc>
              <a:spcPct val="90000"/>
            </a:lnSpc>
            <a:spcBef>
              <a:spcPct val="0"/>
            </a:spcBef>
            <a:spcAft>
              <a:spcPct val="15000"/>
            </a:spcAft>
            <a:buChar char="•"/>
          </a:pPr>
          <a:r>
            <a:rPr lang="es-MX" sz="1500" kern="1200" dirty="0"/>
            <a:t>Funciones desempeñadas: </a:t>
          </a:r>
          <a:r>
            <a:rPr lang="es-CL" sz="1500" kern="1200" dirty="0"/>
            <a:t>Planificación (Carta Gantt), análisis del caso de negocio y definición del alcance.</a:t>
          </a:r>
        </a:p>
      </dsp:txBody>
      <dsp:txXfrm>
        <a:off x="1662653" y="0"/>
        <a:ext cx="5970840" cy="1359548"/>
      </dsp:txXfrm>
    </dsp:sp>
    <dsp:sp modelId="{9A7E2690-DE9C-4572-9BE5-B8C9A3B8BBB3}">
      <dsp:nvSpPr>
        <dsp:cNvPr id="0" name=""/>
        <dsp:cNvSpPr/>
      </dsp:nvSpPr>
      <dsp:spPr>
        <a:xfrm>
          <a:off x="135954" y="135954"/>
          <a:ext cx="1526698" cy="1087638"/>
        </a:xfrm>
        <a:prstGeom prst="roundRect">
          <a:avLst>
            <a:gd name="adj" fmla="val 10000"/>
          </a:avLst>
        </a:prstGeom>
        <a:blipFill>
          <a:blip xmlns:r="http://schemas.openxmlformats.org/officeDocument/2006/relationships" r:embed="rId1"/>
          <a:srcRect/>
          <a:stretch>
            <a:fillRect t="-1000" b="-1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1495502"/>
          <a:ext cx="7633494" cy="135954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kern="1200" dirty="0"/>
            <a:t>Nombre de estudiante: </a:t>
          </a:r>
          <a:r>
            <a:rPr lang="es-CL" sz="1900" kern="1200" dirty="0"/>
            <a:t>Bastián González Flores</a:t>
          </a:r>
        </a:p>
        <a:p>
          <a:pPr marL="114300" lvl="1" indent="-114300" algn="l" defTabSz="666750">
            <a:lnSpc>
              <a:spcPct val="90000"/>
            </a:lnSpc>
            <a:spcBef>
              <a:spcPct val="0"/>
            </a:spcBef>
            <a:spcAft>
              <a:spcPct val="15000"/>
            </a:spcAft>
            <a:buChar char="•"/>
          </a:pPr>
          <a:r>
            <a:rPr lang="es-MX" sz="1500" kern="1200" dirty="0"/>
            <a:t>Cargo: </a:t>
          </a:r>
          <a:r>
            <a:rPr lang="es-CL" sz="1500" kern="1200" dirty="0"/>
            <a:t>Arquitecto de Software</a:t>
          </a:r>
        </a:p>
        <a:p>
          <a:pPr marL="114300" lvl="1" indent="-114300" algn="l" defTabSz="666750">
            <a:lnSpc>
              <a:spcPct val="90000"/>
            </a:lnSpc>
            <a:spcBef>
              <a:spcPct val="0"/>
            </a:spcBef>
            <a:spcAft>
              <a:spcPct val="15000"/>
            </a:spcAft>
            <a:buChar char="•"/>
          </a:pPr>
          <a:r>
            <a:rPr lang="es-MX" sz="1500" kern="1200" dirty="0"/>
            <a:t>Funciones desempeñadas: </a:t>
          </a:r>
          <a:r>
            <a:rPr lang="es-CL" sz="1500" kern="1200" dirty="0"/>
            <a:t>Diseño del Modelo 4+1 (Vistas lógica, de procesos, etc.), elaboración de diagramas UML (Casos de Uso, Clases</a:t>
          </a:r>
        </a:p>
      </dsp:txBody>
      <dsp:txXfrm>
        <a:off x="1662653" y="1495502"/>
        <a:ext cx="5970840" cy="1359548"/>
      </dsp:txXfrm>
    </dsp:sp>
    <dsp:sp modelId="{3F97C059-D720-4D48-953F-B84D04D0BF79}">
      <dsp:nvSpPr>
        <dsp:cNvPr id="0" name=""/>
        <dsp:cNvSpPr/>
      </dsp:nvSpPr>
      <dsp:spPr>
        <a:xfrm>
          <a:off x="135954" y="1631457"/>
          <a:ext cx="1526698" cy="1087638"/>
        </a:xfrm>
        <a:prstGeom prst="roundRect">
          <a:avLst>
            <a:gd name="adj" fmla="val 10000"/>
          </a:avLst>
        </a:prstGeom>
        <a:blipFill>
          <a:blip xmlns:r="http://schemas.openxmlformats.org/officeDocument/2006/relationships" r:embed="rId2"/>
          <a:srcRect/>
          <a:stretch>
            <a:fillRect t="-20000" b="-20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F36F4ED1-B414-46B8-A8C5-C0FB11F5CFBC}">
      <dsp:nvSpPr>
        <dsp:cNvPr id="0" name=""/>
        <dsp:cNvSpPr/>
      </dsp:nvSpPr>
      <dsp:spPr>
        <a:xfrm>
          <a:off x="0" y="2991005"/>
          <a:ext cx="7633494" cy="135954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s-MX" sz="1900" kern="1200" dirty="0"/>
            <a:t>Nombre de estudiante: </a:t>
          </a:r>
          <a:r>
            <a:rPr lang="es-CL" sz="1900" kern="1200" dirty="0"/>
            <a:t>Bastián González Flores</a:t>
          </a:r>
        </a:p>
        <a:p>
          <a:pPr marL="114300" lvl="1" indent="-114300" algn="l" defTabSz="666750">
            <a:lnSpc>
              <a:spcPct val="90000"/>
            </a:lnSpc>
            <a:spcBef>
              <a:spcPct val="0"/>
            </a:spcBef>
            <a:spcAft>
              <a:spcPct val="15000"/>
            </a:spcAft>
            <a:buChar char="•"/>
          </a:pPr>
          <a:r>
            <a:rPr lang="es-MX" sz="1500" kern="1200" dirty="0"/>
            <a:t>Cargo: </a:t>
          </a:r>
          <a:r>
            <a:rPr lang="es-CL" sz="1500" kern="1200" dirty="0"/>
            <a:t>Desarrollador de prototipo</a:t>
          </a:r>
        </a:p>
        <a:p>
          <a:pPr marL="114300" lvl="1" indent="-114300" algn="l" defTabSz="666750">
            <a:lnSpc>
              <a:spcPct val="90000"/>
            </a:lnSpc>
            <a:spcBef>
              <a:spcPct val="0"/>
            </a:spcBef>
            <a:spcAft>
              <a:spcPct val="15000"/>
            </a:spcAft>
            <a:buChar char="•"/>
          </a:pPr>
          <a:r>
            <a:rPr lang="es-MX" sz="1500" kern="1200" dirty="0"/>
            <a:t>Funciones desempeñadas: </a:t>
          </a:r>
          <a:r>
            <a:rPr lang="es-CL" sz="1500" kern="1200" dirty="0"/>
            <a:t>Creación del prototipo de alta fidelidad, aplicación de heurísticas de usabilidad y diseño del plan de pruebas.</a:t>
          </a:r>
        </a:p>
      </dsp:txBody>
      <dsp:txXfrm>
        <a:off x="1662653" y="2991005"/>
        <a:ext cx="5970840" cy="1359548"/>
      </dsp:txXfrm>
    </dsp:sp>
    <dsp:sp modelId="{7C6A764B-C67C-494C-B90E-7B3C3DDE54A4}">
      <dsp:nvSpPr>
        <dsp:cNvPr id="0" name=""/>
        <dsp:cNvSpPr/>
      </dsp:nvSpPr>
      <dsp:spPr>
        <a:xfrm>
          <a:off x="135954" y="3126960"/>
          <a:ext cx="1526698" cy="1087638"/>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20000" b="-20000"/>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10-07-2026</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4529" y="495097"/>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147955"/>
            <a:ext cx="12191999" cy="1815882"/>
          </a:xfrm>
          <a:prstGeom prst="rect">
            <a:avLst/>
          </a:prstGeom>
          <a:noFill/>
        </p:spPr>
        <p:txBody>
          <a:bodyPr wrap="square" rtlCol="0">
            <a:spAutoFit/>
          </a:bodyPr>
          <a:lstStyle/>
          <a:p>
            <a:pPr algn="ctr"/>
            <a:r>
              <a:rPr lang="es-MX" sz="4400" dirty="0"/>
              <a:t>PROYECTO “</a:t>
            </a:r>
            <a:r>
              <a:rPr lang="es-CL" sz="4400" dirty="0"/>
              <a:t>Sistema de Gestión y Control de Morosidad – Edificio El Mirador </a:t>
            </a:r>
            <a:r>
              <a:rPr lang="es-MX" sz="4400" dirty="0"/>
              <a:t>”</a:t>
            </a:r>
          </a:p>
          <a:p>
            <a:pPr algn="ctr"/>
            <a:r>
              <a:rPr lang="es-MX" sz="2400" dirty="0"/>
              <a:t>INGENIERÍA DE SOFTWARE | RQY1102</a:t>
            </a:r>
            <a:endParaRPr lang="es-CL" sz="2400" dirty="0"/>
          </a:p>
        </p:txBody>
      </p:sp>
      <p:pic>
        <p:nvPicPr>
          <p:cNvPr id="2" name="Picture 2" descr="EscuelaIT Duoc UC - Escuela de Informática y Telecomunicaciones Duoc UC - Duoc  UC | LinkedIn">
            <a:extLst>
              <a:ext uri="{FF2B5EF4-FFF2-40B4-BE49-F238E27FC236}">
                <a16:creationId xmlns:a16="http://schemas.microsoft.com/office/drawing/2014/main" id="{940DD14E-9A2F-BEB9-BA28-E596FDF87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4482886"/>
            <a:ext cx="4536009" cy="1144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3307868454"/>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ROLES Y TIPO DE ORGANIZACIÓN</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Y PROPUESTA DE SOLUCIÓN</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 / Necesidad del Cliente</a:t>
            </a:r>
          </a:p>
          <a:p>
            <a:pPr lvl="0" algn="ctr"/>
            <a:endParaRPr lang="es-MX" u="sng" dirty="0"/>
          </a:p>
          <a:p>
            <a:pPr algn="just"/>
            <a:r>
              <a:rPr lang="es-ES" sz="1600" dirty="0"/>
              <a:t>El control de gastos comunes y el registro de pagos se realiza de forma manual, lo que genera inconsistencias y errores en los saldos finales, a si mismo el alto índice de pagos atrasados pone en riesgo la continuidad operacional y el pago de servicios básicos del condominio y la falta de transparencia presente, existiendo una comunicación deficiente y ausencia de reportes financieros claros, lo que genera desconfianza y fricción con los copropietarios.</a:t>
            </a:r>
            <a:endParaRPr lang="es-CL" sz="1600" u="sng"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912079" y="2177325"/>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 de Software</a:t>
            </a:r>
          </a:p>
          <a:p>
            <a:pPr lvl="0" algn="ctr"/>
            <a:endParaRPr lang="es-MX" u="sng" dirty="0"/>
          </a:p>
          <a:p>
            <a:pPr lvl="0" algn="just"/>
            <a:r>
              <a:rPr lang="es-ES" sz="1600" dirty="0"/>
              <a:t>Desarrollo de un sistema centralizado que automatiza el registro de pagos y el cálculo de gastos comunes. Se piensa una implementación de alertas automáticas y seguimiento de deuda para optimizar los tiempos de recaudación junto a módulos de visualización financiera que otorgan total transparencia a la administración y a los residentes, agilizando la toma de decisiones.</a:t>
            </a:r>
            <a:endParaRPr lang="es-CL" sz="1600" dirty="0"/>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384304"/>
            <a:ext cx="12191999" cy="646331"/>
          </a:xfrm>
          <a:prstGeom prst="rect">
            <a:avLst/>
          </a:prstGeom>
          <a:noFill/>
        </p:spPr>
        <p:txBody>
          <a:bodyPr wrap="square" rtlCol="0">
            <a:spAutoFit/>
          </a:bodyPr>
          <a:lstStyle/>
          <a:p>
            <a:pPr algn="ctr"/>
            <a:r>
              <a:rPr lang="es-MX" sz="3600" dirty="0"/>
              <a:t>CICLO DE VIDA DEL SOFTWARE</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4082446"/>
            <a:ext cx="12191999" cy="646331"/>
          </a:xfrm>
          <a:prstGeom prst="rect">
            <a:avLst/>
          </a:prstGeom>
          <a:noFill/>
        </p:spPr>
        <p:txBody>
          <a:bodyPr wrap="square" rtlCol="0">
            <a:spAutoFit/>
          </a:bodyPr>
          <a:lstStyle/>
          <a:p>
            <a:pPr algn="ctr"/>
            <a:r>
              <a:rPr lang="es-MX" sz="3600" dirty="0"/>
              <a:t>Fases aplicadas al proyecto</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4" y="2077474"/>
            <a:ext cx="10962967" cy="189736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CL" b="1" dirty="0"/>
              <a:t>Análisis:</a:t>
            </a:r>
            <a:r>
              <a:rPr lang="es-CL" dirty="0"/>
              <a:t> Análisis de requerimientos estandarizados (RF y RNF) </a:t>
            </a:r>
            <a:r>
              <a:rPr lang="es-MX" dirty="0"/>
              <a:t>→ </a:t>
            </a:r>
            <a:r>
              <a:rPr lang="es-CL" b="1" dirty="0"/>
              <a:t>Diseño:</a:t>
            </a:r>
            <a:r>
              <a:rPr lang="es-CL" dirty="0"/>
              <a:t> Construcción del DAS (Modelo 4+1) y creación de un prototipo de alta fidelidad interactivo utilizando Figma (sin código). </a:t>
            </a:r>
            <a:r>
              <a:rPr lang="es-MX" dirty="0"/>
              <a:t>→ </a:t>
            </a:r>
            <a:r>
              <a:rPr lang="es-CL" b="1" dirty="0"/>
              <a:t>Desarrollo:</a:t>
            </a:r>
            <a:r>
              <a:rPr lang="es-CL" dirty="0"/>
              <a:t> Fase proyectada para futuras iteraciones. </a:t>
            </a:r>
            <a:r>
              <a:rPr lang="es-MX" dirty="0"/>
              <a:t>→ </a:t>
            </a:r>
            <a:r>
              <a:rPr lang="es-CL" b="1" dirty="0" err="1"/>
              <a:t>Testing</a:t>
            </a:r>
            <a:r>
              <a:rPr lang="es-CL" b="1" dirty="0"/>
              <a:t>:</a:t>
            </a:r>
            <a:r>
              <a:rPr lang="es-CL" dirty="0"/>
              <a:t> Creación de un plan de pruebas teórico basado en la norma ISO 25000 y aplicación de las heurísticas de Nielsen sobre el diseño de las interfaces. </a:t>
            </a:r>
            <a:r>
              <a:rPr lang="es-MX" dirty="0"/>
              <a:t>→ </a:t>
            </a:r>
            <a:r>
              <a:rPr lang="es-CL" b="1" dirty="0"/>
              <a:t>Mantenimiento:</a:t>
            </a:r>
            <a:r>
              <a:rPr lang="es-CL" dirty="0"/>
              <a:t> Fase proyectada, respaldada teóricamente por los requerimientos no funcionales (RNF) de mantenibilidad y escalabilidad definidos en el DAS.</a:t>
            </a:r>
          </a:p>
          <a:p>
            <a:pPr algn="ct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7324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MX" b="1" dirty="0"/>
              <a:t>Normativa aplicada: </a:t>
            </a:r>
            <a:r>
              <a:rPr lang="es-CL" dirty="0"/>
              <a:t>Modelo Tradicional en Cascada.</a:t>
            </a:r>
          </a:p>
          <a:p>
            <a:pPr algn="ctr"/>
            <a:r>
              <a:rPr lang="es-CL" b="1" dirty="0"/>
              <a:t>Justificación:</a:t>
            </a:r>
            <a:r>
              <a:rPr lang="es-CL" dirty="0"/>
              <a:t> El modelo en Cascada fue seleccionado porque permite cerrar exhaustivamente las fases de Análisis y Diseño antes de comprometer recursos en Desarrollo. Esto garantiza que la arquitectura y el prototipo respondan exactamente a las necesidades del Edificio El Mirador antes de escribir la primera línea de código.</a:t>
            </a:r>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21298" y="809065"/>
            <a:ext cx="12191999" cy="646331"/>
          </a:xfrm>
          <a:prstGeom prst="rect">
            <a:avLst/>
          </a:prstGeom>
          <a:noFill/>
        </p:spPr>
        <p:txBody>
          <a:bodyPr wrap="square" rtlCol="0">
            <a:spAutoFit/>
          </a:bodyPr>
          <a:lstStyle/>
          <a:p>
            <a:pPr algn="ctr"/>
            <a:r>
              <a:rPr lang="es-MX" sz="3600" dirty="0"/>
              <a:t>OBJETIVOS, ALCANCE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99FA98BC-E488-16F5-C5BF-85DD10A5ADB0}"/>
              </a:ext>
            </a:extLst>
          </p:cNvPr>
          <p:cNvSpPr txBox="1"/>
          <p:nvPr/>
        </p:nvSpPr>
        <p:spPr>
          <a:xfrm>
            <a:off x="316502" y="1648606"/>
            <a:ext cx="11558995" cy="5355312"/>
          </a:xfrm>
          <a:prstGeom prst="rect">
            <a:avLst/>
          </a:prstGeom>
          <a:noFill/>
        </p:spPr>
        <p:txBody>
          <a:bodyPr wrap="square" rtlCol="0">
            <a:spAutoFit/>
          </a:bodyPr>
          <a:lstStyle/>
          <a:p>
            <a:r>
              <a:rPr lang="es-CL" b="1" dirty="0"/>
              <a:t>Objetivos del Proyecto:</a:t>
            </a:r>
            <a:endParaRPr lang="es-CL" dirty="0"/>
          </a:p>
          <a:p>
            <a:r>
              <a:rPr lang="es-CL" b="1" dirty="0"/>
              <a:t>General:</a:t>
            </a:r>
            <a:r>
              <a:rPr lang="es-CL" dirty="0"/>
              <a:t> Desarrollar una solución de software web para automatizar el control de gastos comunes y reducir la morosidad en el Edificio El Mirador. </a:t>
            </a:r>
          </a:p>
          <a:p>
            <a:r>
              <a:rPr lang="es-CL" b="1" dirty="0"/>
              <a:t>Específicos:</a:t>
            </a:r>
            <a:endParaRPr lang="es-CL" dirty="0"/>
          </a:p>
          <a:p>
            <a:pPr lvl="1"/>
            <a:r>
              <a:rPr lang="es-CL" dirty="0"/>
              <a:t>- Centralizar el registro de pagos y estados de cuenta de los residentes. </a:t>
            </a:r>
          </a:p>
          <a:p>
            <a:pPr lvl="1"/>
            <a:r>
              <a:rPr lang="es-CL" dirty="0"/>
              <a:t>- Implementar un sistema de alertas automáticas para notificar estados de deuda. </a:t>
            </a:r>
          </a:p>
          <a:p>
            <a:pPr lvl="1"/>
            <a:r>
              <a:rPr lang="es-CL" dirty="0"/>
              <a:t>- Generar reportes financieros precisos para la administración. </a:t>
            </a:r>
          </a:p>
          <a:p>
            <a:r>
              <a:rPr lang="es-CL" b="1" dirty="0"/>
              <a:t>Alcance del Proyecto:</a:t>
            </a:r>
            <a:endParaRPr lang="es-CL" dirty="0"/>
          </a:p>
          <a:p>
            <a:pPr lvl="1"/>
            <a:r>
              <a:rPr lang="es-CL" dirty="0"/>
              <a:t>- Módulo de gestión de usuarios y roles de acceso. </a:t>
            </a:r>
          </a:p>
          <a:p>
            <a:pPr lvl="1"/>
            <a:r>
              <a:rPr lang="es-CL" dirty="0"/>
              <a:t>- Dashboard administrativo con visualización de morosidad y estados financieros. </a:t>
            </a:r>
          </a:p>
          <a:p>
            <a:pPr lvl="1"/>
            <a:r>
              <a:rPr lang="es-CL" dirty="0"/>
              <a:t>- Prototipo interactivo de alta fidelidad (UI/UX) diseñado en Figma. </a:t>
            </a:r>
          </a:p>
          <a:p>
            <a:pPr lvl="1"/>
            <a:r>
              <a:rPr lang="es-CL" dirty="0"/>
              <a:t>- Documentación completa de la arquitectura del sistema (DAS).</a:t>
            </a:r>
          </a:p>
          <a:p>
            <a:r>
              <a:rPr lang="es-CL" b="1" dirty="0"/>
              <a:t>Limitaciones:</a:t>
            </a:r>
            <a:endParaRPr lang="es-CL" dirty="0"/>
          </a:p>
          <a:p>
            <a:pPr lvl="1"/>
            <a:r>
              <a:rPr lang="es-CL" dirty="0"/>
              <a:t>- El sistema se entrega a nivel de arquitectura y prototipo funcional; no incluye despliegue en servidor ni codificación backend.</a:t>
            </a:r>
          </a:p>
          <a:p>
            <a:pPr lvl="1"/>
            <a:r>
              <a:rPr lang="es-CL" dirty="0"/>
              <a:t>- La integración con pasarelas de pago bancarias queda definida en el diseño, pero no está implementada funcionalmente.</a:t>
            </a:r>
          </a:p>
          <a:p>
            <a:pPr lvl="1"/>
            <a:r>
              <a:rPr lang="es-CL" dirty="0"/>
              <a:t>- El alcance se circunscribe exclusivamente a las necesidades administrativas del Edificio El Mirador.</a:t>
            </a:r>
          </a:p>
          <a:p>
            <a:pPr lvl="1"/>
            <a:endParaRPr lang="es-CL" dirty="0"/>
          </a:p>
        </p:txBody>
      </p:sp>
    </p:spTree>
    <p:extLst>
      <p:ext uri="{BB962C8B-B14F-4D97-AF65-F5344CB8AC3E}">
        <p14:creationId xmlns:p14="http://schemas.microsoft.com/office/powerpoint/2010/main" val="329995646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1003254"/>
            <a:ext cx="12191999" cy="646331"/>
          </a:xfrm>
          <a:prstGeom prst="rect">
            <a:avLst/>
          </a:prstGeom>
          <a:noFill/>
        </p:spPr>
        <p:txBody>
          <a:bodyPr wrap="square" rtlCol="0">
            <a:spAutoFit/>
          </a:bodyPr>
          <a:lstStyle/>
          <a:p>
            <a:pPr algn="ctr"/>
            <a:r>
              <a:rPr lang="es-MX" sz="3600" dirty="0"/>
              <a:t>ESTRATEGIAS DE GESTIÓN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FFCD29-D925-8DDD-FA09-EAD8BF69D464}"/>
              </a:ext>
            </a:extLst>
          </p:cNvPr>
          <p:cNvSpPr txBox="1"/>
          <p:nvPr/>
        </p:nvSpPr>
        <p:spPr>
          <a:xfrm>
            <a:off x="474305" y="2071396"/>
            <a:ext cx="11243388" cy="3416320"/>
          </a:xfrm>
          <a:prstGeom prst="rect">
            <a:avLst/>
          </a:prstGeom>
          <a:noFill/>
        </p:spPr>
        <p:txBody>
          <a:bodyPr wrap="square" rtlCol="0">
            <a:spAutoFit/>
          </a:bodyPr>
          <a:lstStyle/>
          <a:p>
            <a:r>
              <a:rPr lang="es-CL" b="1" dirty="0"/>
              <a:t>Gestión del Cronograma (Carta Gantt):</a:t>
            </a:r>
            <a:endParaRPr lang="es-CL" dirty="0"/>
          </a:p>
          <a:p>
            <a:r>
              <a:rPr lang="es-CL" dirty="0"/>
              <a:t>Desglose del proyecto en fases secuenciales (Planificación, Análisis, Diseño..) utilizando hitos de control para asegurar el cumplimiento de los plazos de entrega. </a:t>
            </a:r>
          </a:p>
          <a:p>
            <a:endParaRPr lang="es-CL" dirty="0"/>
          </a:p>
          <a:p>
            <a:r>
              <a:rPr lang="es-CL" b="1" dirty="0"/>
              <a:t>Gestión de la Calidad (Estándares):</a:t>
            </a:r>
            <a:endParaRPr lang="es-CL" dirty="0"/>
          </a:p>
          <a:p>
            <a:r>
              <a:rPr lang="es-CL" dirty="0"/>
              <a:t>Aplicación de estándares internacionales para la documentación (DAS) y validación de interfaces mediante heurísticas de usabilidad, asegurando un diseño centrado en el usuario. </a:t>
            </a:r>
          </a:p>
          <a:p>
            <a:endParaRPr lang="es-CL" dirty="0"/>
          </a:p>
          <a:p>
            <a:r>
              <a:rPr lang="es-CL" b="1" dirty="0"/>
              <a:t>Gestión de la Información y Versionamiento:</a:t>
            </a:r>
            <a:endParaRPr lang="es-CL" dirty="0"/>
          </a:p>
          <a:p>
            <a:r>
              <a:rPr lang="es-CL" dirty="0"/>
              <a:t>Centralización de la documentación en un repositorio digital (GitHub), manteniendo un historial de versiones del diseño y prototipado para garantizar la integridad de los entregables. </a:t>
            </a:r>
          </a:p>
          <a:p>
            <a:endParaRPr lang="es-CL" dirty="0"/>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9000" y="992902"/>
            <a:ext cx="12191999" cy="646331"/>
          </a:xfrm>
          <a:prstGeom prst="rect">
            <a:avLst/>
          </a:prstGeom>
          <a:noFill/>
        </p:spPr>
        <p:txBody>
          <a:bodyPr wrap="square" rtlCol="0">
            <a:spAutoFit/>
          </a:bodyPr>
          <a:lstStyle/>
          <a:p>
            <a:pPr algn="ctr"/>
            <a:r>
              <a:rPr lang="es-MX" sz="3600" dirty="0"/>
              <a:t>PLANIFICACIÓN DEL PROYECTO (EDT + CARTA GANTT)</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4" name="Tabla 3">
            <a:extLst>
              <a:ext uri="{FF2B5EF4-FFF2-40B4-BE49-F238E27FC236}">
                <a16:creationId xmlns:a16="http://schemas.microsoft.com/office/drawing/2014/main" id="{7BB5CADE-DDA2-A4F7-629E-7AEEB49F57D7}"/>
              </a:ext>
            </a:extLst>
          </p:cNvPr>
          <p:cNvGraphicFramePr>
            <a:graphicFrameLocks noGrp="1"/>
          </p:cNvGraphicFramePr>
          <p:nvPr>
            <p:extLst>
              <p:ext uri="{D42A27DB-BD31-4B8C-83A1-F6EECF244321}">
                <p14:modId xmlns:p14="http://schemas.microsoft.com/office/powerpoint/2010/main" val="692648624"/>
              </p:ext>
            </p:extLst>
          </p:nvPr>
        </p:nvGraphicFramePr>
        <p:xfrm>
          <a:off x="727186" y="1812830"/>
          <a:ext cx="10737627" cy="3698047"/>
        </p:xfrm>
        <a:graphic>
          <a:graphicData uri="http://schemas.openxmlformats.org/drawingml/2006/table">
            <a:tbl>
              <a:tblPr firstRow="1" firstCol="1" bandRow="1"/>
              <a:tblGrid>
                <a:gridCol w="1313771">
                  <a:extLst>
                    <a:ext uri="{9D8B030D-6E8A-4147-A177-3AD203B41FA5}">
                      <a16:colId xmlns:a16="http://schemas.microsoft.com/office/drawing/2014/main" val="1385875515"/>
                    </a:ext>
                  </a:extLst>
                </a:gridCol>
                <a:gridCol w="518019">
                  <a:extLst>
                    <a:ext uri="{9D8B030D-6E8A-4147-A177-3AD203B41FA5}">
                      <a16:colId xmlns:a16="http://schemas.microsoft.com/office/drawing/2014/main" val="3026825544"/>
                    </a:ext>
                  </a:extLst>
                </a:gridCol>
                <a:gridCol w="505454">
                  <a:extLst>
                    <a:ext uri="{9D8B030D-6E8A-4147-A177-3AD203B41FA5}">
                      <a16:colId xmlns:a16="http://schemas.microsoft.com/office/drawing/2014/main" val="3982458150"/>
                    </a:ext>
                  </a:extLst>
                </a:gridCol>
                <a:gridCol w="508353">
                  <a:extLst>
                    <a:ext uri="{9D8B030D-6E8A-4147-A177-3AD203B41FA5}">
                      <a16:colId xmlns:a16="http://schemas.microsoft.com/office/drawing/2014/main" val="2813336322"/>
                    </a:ext>
                  </a:extLst>
                </a:gridCol>
                <a:gridCol w="508353">
                  <a:extLst>
                    <a:ext uri="{9D8B030D-6E8A-4147-A177-3AD203B41FA5}">
                      <a16:colId xmlns:a16="http://schemas.microsoft.com/office/drawing/2014/main" val="666810208"/>
                    </a:ext>
                  </a:extLst>
                </a:gridCol>
                <a:gridCol w="505454">
                  <a:extLst>
                    <a:ext uri="{9D8B030D-6E8A-4147-A177-3AD203B41FA5}">
                      <a16:colId xmlns:a16="http://schemas.microsoft.com/office/drawing/2014/main" val="441682826"/>
                    </a:ext>
                  </a:extLst>
                </a:gridCol>
                <a:gridCol w="505454">
                  <a:extLst>
                    <a:ext uri="{9D8B030D-6E8A-4147-A177-3AD203B41FA5}">
                      <a16:colId xmlns:a16="http://schemas.microsoft.com/office/drawing/2014/main" val="1853034618"/>
                    </a:ext>
                  </a:extLst>
                </a:gridCol>
                <a:gridCol w="505454">
                  <a:extLst>
                    <a:ext uri="{9D8B030D-6E8A-4147-A177-3AD203B41FA5}">
                      <a16:colId xmlns:a16="http://schemas.microsoft.com/office/drawing/2014/main" val="161666760"/>
                    </a:ext>
                  </a:extLst>
                </a:gridCol>
                <a:gridCol w="505454">
                  <a:extLst>
                    <a:ext uri="{9D8B030D-6E8A-4147-A177-3AD203B41FA5}">
                      <a16:colId xmlns:a16="http://schemas.microsoft.com/office/drawing/2014/main" val="2597728732"/>
                    </a:ext>
                  </a:extLst>
                </a:gridCol>
                <a:gridCol w="505454">
                  <a:extLst>
                    <a:ext uri="{9D8B030D-6E8A-4147-A177-3AD203B41FA5}">
                      <a16:colId xmlns:a16="http://schemas.microsoft.com/office/drawing/2014/main" val="3367593723"/>
                    </a:ext>
                  </a:extLst>
                </a:gridCol>
                <a:gridCol w="505454">
                  <a:extLst>
                    <a:ext uri="{9D8B030D-6E8A-4147-A177-3AD203B41FA5}">
                      <a16:colId xmlns:a16="http://schemas.microsoft.com/office/drawing/2014/main" val="1610561930"/>
                    </a:ext>
                  </a:extLst>
                </a:gridCol>
                <a:gridCol w="505454">
                  <a:extLst>
                    <a:ext uri="{9D8B030D-6E8A-4147-A177-3AD203B41FA5}">
                      <a16:colId xmlns:a16="http://schemas.microsoft.com/office/drawing/2014/main" val="4078685469"/>
                    </a:ext>
                  </a:extLst>
                </a:gridCol>
                <a:gridCol w="507385">
                  <a:extLst>
                    <a:ext uri="{9D8B030D-6E8A-4147-A177-3AD203B41FA5}">
                      <a16:colId xmlns:a16="http://schemas.microsoft.com/office/drawing/2014/main" val="1033199576"/>
                    </a:ext>
                  </a:extLst>
                </a:gridCol>
                <a:gridCol w="507385">
                  <a:extLst>
                    <a:ext uri="{9D8B030D-6E8A-4147-A177-3AD203B41FA5}">
                      <a16:colId xmlns:a16="http://schemas.microsoft.com/office/drawing/2014/main" val="3244852290"/>
                    </a:ext>
                  </a:extLst>
                </a:gridCol>
                <a:gridCol w="507385">
                  <a:extLst>
                    <a:ext uri="{9D8B030D-6E8A-4147-A177-3AD203B41FA5}">
                      <a16:colId xmlns:a16="http://schemas.microsoft.com/office/drawing/2014/main" val="2661357519"/>
                    </a:ext>
                  </a:extLst>
                </a:gridCol>
                <a:gridCol w="507385">
                  <a:extLst>
                    <a:ext uri="{9D8B030D-6E8A-4147-A177-3AD203B41FA5}">
                      <a16:colId xmlns:a16="http://schemas.microsoft.com/office/drawing/2014/main" val="1629908258"/>
                    </a:ext>
                  </a:extLst>
                </a:gridCol>
                <a:gridCol w="507385">
                  <a:extLst>
                    <a:ext uri="{9D8B030D-6E8A-4147-A177-3AD203B41FA5}">
                      <a16:colId xmlns:a16="http://schemas.microsoft.com/office/drawing/2014/main" val="2147780406"/>
                    </a:ext>
                  </a:extLst>
                </a:gridCol>
                <a:gridCol w="146902">
                  <a:extLst>
                    <a:ext uri="{9D8B030D-6E8A-4147-A177-3AD203B41FA5}">
                      <a16:colId xmlns:a16="http://schemas.microsoft.com/office/drawing/2014/main" val="2368806540"/>
                    </a:ext>
                  </a:extLst>
                </a:gridCol>
                <a:gridCol w="507385">
                  <a:extLst>
                    <a:ext uri="{9D8B030D-6E8A-4147-A177-3AD203B41FA5}">
                      <a16:colId xmlns:a16="http://schemas.microsoft.com/office/drawing/2014/main" val="3867265020"/>
                    </a:ext>
                  </a:extLst>
                </a:gridCol>
                <a:gridCol w="507385">
                  <a:extLst>
                    <a:ext uri="{9D8B030D-6E8A-4147-A177-3AD203B41FA5}">
                      <a16:colId xmlns:a16="http://schemas.microsoft.com/office/drawing/2014/main" val="3959863927"/>
                    </a:ext>
                  </a:extLst>
                </a:gridCol>
                <a:gridCol w="146902">
                  <a:extLst>
                    <a:ext uri="{9D8B030D-6E8A-4147-A177-3AD203B41FA5}">
                      <a16:colId xmlns:a16="http://schemas.microsoft.com/office/drawing/2014/main" val="366369285"/>
                    </a:ext>
                  </a:extLst>
                </a:gridCol>
              </a:tblGrid>
              <a:tr h="426534">
                <a:tc rowSpan="2">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Actividad</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4">
                  <a:txBody>
                    <a:bodyPr/>
                    <a:lstStyle/>
                    <a:p>
                      <a:pPr algn="ctr">
                        <a:lnSpc>
                          <a:spcPct val="150000"/>
                        </a:lnSpc>
                        <a:spcAft>
                          <a:spcPts val="800"/>
                        </a:spcAft>
                      </a:pPr>
                      <a:r>
                        <a:rPr lang="es-CL" sz="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1</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2EFD9"/>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12">
                  <a:txBody>
                    <a:bodyPr/>
                    <a:lstStyle/>
                    <a:p>
                      <a:pPr algn="ctr">
                        <a:lnSpc>
                          <a:spcPct val="150000"/>
                        </a:lnSpc>
                        <a:spcAft>
                          <a:spcPts val="800"/>
                        </a:spcAft>
                      </a:pPr>
                      <a:r>
                        <a:rPr lang="es-CL" sz="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2</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2CC"/>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4D5"/>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653283734"/>
                  </a:ext>
                </a:extLst>
              </a:tr>
              <a:tr h="439590">
                <a:tc vMerge="1">
                  <a:txBody>
                    <a:bodyPr/>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S 2</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S 3</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4</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5</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9</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10</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S 14</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S 15</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tcPr>
                </a:tc>
                <a:extLst>
                  <a:ext uri="{0D108BD9-81ED-4DB2-BD59-A6C34878D82A}">
                    <a16:rowId xmlns:a16="http://schemas.microsoft.com/office/drawing/2014/main" val="3420616602"/>
                  </a:ext>
                </a:extLst>
              </a:tr>
              <a:tr h="327010">
                <a:tc>
                  <a:txBody>
                    <a:bodyPr/>
                    <a:lstStyle/>
                    <a:p>
                      <a:pPr algn="just">
                        <a:lnSpc>
                          <a:spcPct val="150000"/>
                        </a:lnSpc>
                        <a:spcAft>
                          <a:spcPts val="800"/>
                        </a:spcAft>
                      </a:pPr>
                      <a:r>
                        <a:rPr lang="es-CL" sz="800" b="1" i="0" kern="1200" dirty="0">
                          <a:solidFill>
                            <a:schemeClr val="tx1"/>
                          </a:solidFill>
                          <a:effectLst/>
                          <a:latin typeface="+mn-lt"/>
                          <a:ea typeface="+mn-ea"/>
                          <a:cs typeface="+mn-cs"/>
                        </a:rPr>
                        <a:t>Fase 1: Análisis y Requerimientos</a:t>
                      </a:r>
                      <a:endParaRPr lang="es-CL" sz="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457018220"/>
                  </a:ext>
                </a:extLst>
              </a:tr>
              <a:tr h="227650">
                <a:tc>
                  <a:txBody>
                    <a:bodyPr/>
                    <a:lstStyle/>
                    <a:p>
                      <a:pPr algn="just">
                        <a:lnSpc>
                          <a:spcPct val="150000"/>
                        </a:lnSpc>
                        <a:spcAft>
                          <a:spcPts val="800"/>
                        </a:spcAft>
                      </a:pPr>
                      <a:r>
                        <a:rPr lang="es-CL" sz="800" b="1" i="0" kern="1200" dirty="0">
                          <a:solidFill>
                            <a:schemeClr val="tx1"/>
                          </a:solidFill>
                          <a:effectLst/>
                          <a:latin typeface="+mn-lt"/>
                          <a:ea typeface="+mn-ea"/>
                          <a:cs typeface="+mn-cs"/>
                        </a:rPr>
                        <a:t>Fase 2: Estilos y Patrones</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r>
              <a:tr h="227650">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r>
                        <a:rPr lang="es-CL" sz="800" b="1" i="0" kern="1200" dirty="0">
                          <a:solidFill>
                            <a:schemeClr val="tx1"/>
                          </a:solidFill>
                          <a:effectLst/>
                          <a:latin typeface="+mn-lt"/>
                          <a:ea typeface="+mn-ea"/>
                          <a:cs typeface="+mn-cs"/>
                        </a:rPr>
                        <a:t>Fase 3: Modelo 4+1 (Vistas)</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X</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dirty="0">
                          <a:effectLst/>
                          <a:latin typeface="Calibri" panose="020F0502020204030204" pitchFamily="34" charset="0"/>
                          <a:ea typeface="Calibri" panose="020F0502020204030204" pitchFamily="34" charset="0"/>
                          <a:cs typeface="Times New Roman" panose="02020603050405020304" pitchFamily="18" charset="0"/>
                        </a:rPr>
                        <a:t> </a:t>
                      </a: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23495216"/>
                  </a:ext>
                </a:extLst>
              </a:tr>
              <a:tr h="426534">
                <a:tc>
                  <a:txBody>
                    <a:bodyPr/>
                    <a:lstStyle/>
                    <a:p>
                      <a:pPr algn="just">
                        <a:lnSpc>
                          <a:spcPct val="150000"/>
                        </a:lnSpc>
                        <a:spcAft>
                          <a:spcPts val="800"/>
                        </a:spcAft>
                      </a:pPr>
                      <a:r>
                        <a:rPr lang="es-CL" sz="800" b="1" i="0" kern="1200" dirty="0">
                          <a:solidFill>
                            <a:schemeClr val="tx1"/>
                          </a:solidFill>
                          <a:effectLst/>
                          <a:latin typeface="+mn-lt"/>
                          <a:ea typeface="+mn-ea"/>
                          <a:cs typeface="+mn-cs"/>
                        </a:rPr>
                        <a:t>Fase 4: Requisitos de Calidad</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285743676"/>
                  </a:ext>
                </a:extLst>
              </a:tr>
              <a:tr h="251795">
                <a:tc>
                  <a:txBody>
                    <a:bodyPr/>
                    <a:lstStyle/>
                    <a:p>
                      <a:pPr algn="just">
                        <a:lnSpc>
                          <a:spcPct val="150000"/>
                        </a:lnSpc>
                        <a:spcAft>
                          <a:spcPts val="800"/>
                        </a:spcAft>
                      </a:pPr>
                      <a:r>
                        <a:rPr lang="es-CL" sz="800" b="1" i="0" kern="1200" dirty="0">
                          <a:solidFill>
                            <a:schemeClr val="tx1"/>
                          </a:solidFill>
                          <a:effectLst/>
                          <a:latin typeface="+mn-lt"/>
                          <a:ea typeface="+mn-ea"/>
                          <a:cs typeface="+mn-cs"/>
                        </a:rPr>
                        <a:t>Fase 5: Prototipo (Figma)</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182820019"/>
                  </a:ext>
                </a:extLst>
              </a:tr>
              <a:tr h="231057">
                <a:tc>
                  <a:txBody>
                    <a:bodyPr/>
                    <a:lstStyle/>
                    <a:p>
                      <a:pPr algn="just">
                        <a:lnSpc>
                          <a:spcPct val="150000"/>
                        </a:lnSpc>
                        <a:spcAft>
                          <a:spcPts val="800"/>
                        </a:spcAft>
                      </a:pPr>
                      <a:r>
                        <a:rPr lang="es-CL" sz="800" b="1" i="0" kern="1200" dirty="0">
                          <a:solidFill>
                            <a:schemeClr val="tx1"/>
                          </a:solidFill>
                          <a:effectLst/>
                          <a:latin typeface="+mn-lt"/>
                          <a:ea typeface="+mn-ea"/>
                          <a:cs typeface="+mn-cs"/>
                        </a:rPr>
                        <a:t>Fase 6: Evaluación Nielsen</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871387487"/>
                  </a:ext>
                </a:extLst>
              </a:tr>
              <a:tr h="237482">
                <a:tc>
                  <a:txBody>
                    <a:bodyPr/>
                    <a:lstStyle/>
                    <a:p>
                      <a:pPr algn="just">
                        <a:lnSpc>
                          <a:spcPct val="150000"/>
                        </a:lnSpc>
                        <a:spcAft>
                          <a:spcPts val="800"/>
                        </a:spcAft>
                      </a:pPr>
                      <a:r>
                        <a:rPr lang="es-CL" sz="800" b="1" i="0" kern="1200" dirty="0">
                          <a:solidFill>
                            <a:schemeClr val="tx1"/>
                          </a:solidFill>
                          <a:effectLst/>
                          <a:latin typeface="+mn-lt"/>
                          <a:ea typeface="+mn-ea"/>
                          <a:cs typeface="+mn-cs"/>
                        </a:rPr>
                        <a:t>Fase 7: Control de Versiones</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152849552"/>
                  </a:ext>
                </a:extLst>
              </a:tr>
              <a:tr h="228686">
                <a:tc>
                  <a:txBody>
                    <a:bodyPr/>
                    <a:lstStyle/>
                    <a:p>
                      <a:pPr algn="just">
                        <a:lnSpc>
                          <a:spcPct val="150000"/>
                        </a:lnSpc>
                        <a:spcAft>
                          <a:spcPts val="800"/>
                        </a:spcAft>
                      </a:pPr>
                      <a:r>
                        <a:rPr lang="es-CL" sz="800" b="1" i="0" kern="1200" dirty="0">
                          <a:solidFill>
                            <a:schemeClr val="tx1"/>
                          </a:solidFill>
                          <a:effectLst/>
                          <a:latin typeface="+mn-lt"/>
                          <a:ea typeface="+mn-ea"/>
                          <a:cs typeface="+mn-cs"/>
                        </a:rPr>
                        <a:t>Fase 8: Conclusiones y Anexos</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207838385"/>
                  </a:ext>
                </a:extLst>
              </a:tr>
              <a:tr h="426534">
                <a:tc>
                  <a:txBody>
                    <a:bodyPr/>
                    <a:lstStyle/>
                    <a:p>
                      <a:pPr algn="just">
                        <a:lnSpc>
                          <a:spcPct val="150000"/>
                        </a:lnSpc>
                        <a:spcAft>
                          <a:spcPts val="800"/>
                        </a:spcAft>
                      </a:pPr>
                      <a:r>
                        <a:rPr lang="es-CL" sz="800" b="1" i="0" kern="1200" dirty="0">
                          <a:solidFill>
                            <a:schemeClr val="tx1"/>
                          </a:solidFill>
                          <a:effectLst/>
                          <a:latin typeface="+mn-lt"/>
                          <a:ea typeface="+mn-ea"/>
                          <a:cs typeface="+mn-cs"/>
                        </a:rPr>
                        <a:t>Fase 9: Revisión Final y Presentación</a:t>
                      </a:r>
                      <a:endParaRPr lang="es-CL"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11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endParaRPr lang="es-CL"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60839068"/>
                  </a:ext>
                </a:extLst>
              </a:tr>
            </a:tbl>
          </a:graphicData>
        </a:graphic>
      </p:graphicFrame>
      <p:sp>
        <p:nvSpPr>
          <p:cNvPr id="2" name="CuadroTexto 1">
            <a:extLst>
              <a:ext uri="{FF2B5EF4-FFF2-40B4-BE49-F238E27FC236}">
                <a16:creationId xmlns:a16="http://schemas.microsoft.com/office/drawing/2014/main" id="{06CAAA53-E8B2-4FA6-9799-59A8978122B6}"/>
              </a:ext>
            </a:extLst>
          </p:cNvPr>
          <p:cNvSpPr txBox="1"/>
          <p:nvPr/>
        </p:nvSpPr>
        <p:spPr>
          <a:xfrm>
            <a:off x="254376" y="5684474"/>
            <a:ext cx="11937624" cy="584775"/>
          </a:xfrm>
          <a:prstGeom prst="rect">
            <a:avLst/>
          </a:prstGeom>
          <a:noFill/>
        </p:spPr>
        <p:txBody>
          <a:bodyPr wrap="square" rtlCol="0">
            <a:spAutoFit/>
          </a:bodyPr>
          <a:lstStyle/>
          <a:p>
            <a:r>
              <a:rPr lang="es-CL" sz="1600" dirty="0"/>
              <a:t>El proyecto se encuentra 100% completado al término de la semana 18 (10 de julio de 2026). Todas las fases del ciclo de vida del software han sido ejecutadas según lo planificado, culminando con la entrega del encargo y la presentación final.</a:t>
            </a:r>
          </a:p>
        </p:txBody>
      </p:sp>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376671"/>
            <a:ext cx="12191999" cy="646331"/>
          </a:xfrm>
          <a:prstGeom prst="rect">
            <a:avLst/>
          </a:prstGeom>
          <a:noFill/>
        </p:spPr>
        <p:txBody>
          <a:bodyPr wrap="square" rtlCol="0">
            <a:spAutoFit/>
          </a:bodyPr>
          <a:lstStyle/>
          <a:p>
            <a:pPr algn="ctr"/>
            <a:r>
              <a:rPr lang="es-MX" sz="3600" dirty="0"/>
              <a:t>ARQUITECTURA DE SOFTWARE - MODELO 4+1 (UML)</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5957A42E-ED67-B622-6735-DF034A306971}"/>
              </a:ext>
            </a:extLst>
          </p:cNvPr>
          <p:cNvSpPr txBox="1"/>
          <p:nvPr/>
        </p:nvSpPr>
        <p:spPr>
          <a:xfrm>
            <a:off x="774440" y="2332126"/>
            <a:ext cx="10282335" cy="3693319"/>
          </a:xfrm>
          <a:prstGeom prst="rect">
            <a:avLst/>
          </a:prstGeom>
          <a:noFill/>
        </p:spPr>
        <p:txBody>
          <a:bodyPr wrap="square" rtlCol="0">
            <a:spAutoFit/>
          </a:bodyPr>
          <a:lstStyle/>
          <a:p>
            <a:r>
              <a:rPr lang="es-ES" dirty="0"/>
              <a:t>Para garantizar una base sólida y alineada con los estándares de la industria, se aplicó el modelo arquitectónico 4+1. Este enfoque organiza la solución del Edificio El Mirador en cinco vistas interrelacionadas, permitiendo abordar el sistema desde la perspectiva de los actores, la lógica interna, los componentes de desarrollo, los flujos dinámicos y la infraestructura física. A continuación, se presenta la evidencia diagramática de cada vista, con sus respectivos propósitos y justificaciones técnicas.</a:t>
            </a:r>
          </a:p>
          <a:p>
            <a:endParaRPr lang="es-ES" dirty="0"/>
          </a:p>
          <a:p>
            <a:endParaRPr lang="es-ES" dirty="0"/>
          </a:p>
          <a:p>
            <a:r>
              <a:rPr lang="es-CL" dirty="0"/>
              <a:t>- Vista Escenario (Casos de Uso - Enfoque en morosidad)</a:t>
            </a:r>
          </a:p>
          <a:p>
            <a:r>
              <a:rPr lang="es-CL" dirty="0"/>
              <a:t>- Vista Lógica (Diagrama de Clases - Dominio del negocio)</a:t>
            </a:r>
          </a:p>
          <a:p>
            <a:r>
              <a:rPr lang="es-CL" dirty="0"/>
              <a:t>- Vista Desarrollo (Diagrama de Componentes - Módulos y APIs)</a:t>
            </a:r>
          </a:p>
          <a:p>
            <a:r>
              <a:rPr lang="es-CL" dirty="0"/>
              <a:t>- Vista Proceso (Diagrama de Actividad - Flujo de Reportes)</a:t>
            </a:r>
          </a:p>
          <a:p>
            <a:r>
              <a:rPr lang="es-CL" dirty="0"/>
              <a:t>- Vista Física (Diagrama de Despliegue - Infraestructura)</a:t>
            </a:r>
          </a:p>
          <a:p>
            <a:endParaRPr lang="es-CL" dirty="0"/>
          </a:p>
        </p:txBody>
      </p:sp>
    </p:spTree>
    <p:extLst>
      <p:ext uri="{BB962C8B-B14F-4D97-AF65-F5344CB8AC3E}">
        <p14:creationId xmlns:p14="http://schemas.microsoft.com/office/powerpoint/2010/main" val="189049146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13AB5-A76E-62AE-9C59-C6F3793B67FF}"/>
              </a:ext>
            </a:extLst>
          </p:cNvPr>
          <p:cNvSpPr>
            <a:spLocks noGrp="1"/>
          </p:cNvSpPr>
          <p:nvPr>
            <p:ph type="title"/>
          </p:nvPr>
        </p:nvSpPr>
        <p:spPr>
          <a:xfrm>
            <a:off x="399662" y="372203"/>
            <a:ext cx="7913914" cy="617668"/>
          </a:xfrm>
        </p:spPr>
        <p:txBody>
          <a:bodyPr>
            <a:noAutofit/>
          </a:bodyPr>
          <a:lstStyle/>
          <a:p>
            <a:r>
              <a:rPr lang="es-CL" sz="3200" b="1" dirty="0"/>
              <a:t>Vista de Escenario</a:t>
            </a:r>
            <a:endParaRPr lang="es-CL" sz="3200" dirty="0"/>
          </a:p>
        </p:txBody>
      </p:sp>
      <p:pic>
        <p:nvPicPr>
          <p:cNvPr id="5" name="Picture 2" descr="EscuelaIT Duoc UC - Escuela de Informática y Telecomunicaciones Duoc UC - Duoc  UC | LinkedIn">
            <a:extLst>
              <a:ext uri="{FF2B5EF4-FFF2-40B4-BE49-F238E27FC236}">
                <a16:creationId xmlns:a16="http://schemas.microsoft.com/office/drawing/2014/main" id="{3E685C6D-D106-FA85-330A-AB644A8AE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E6BC485B-EE88-2ADB-E54F-A99F52E4F83E}"/>
              </a:ext>
            </a:extLst>
          </p:cNvPr>
          <p:cNvSpPr txBox="1"/>
          <p:nvPr/>
        </p:nvSpPr>
        <p:spPr>
          <a:xfrm>
            <a:off x="1705947" y="5654800"/>
            <a:ext cx="9360158" cy="830997"/>
          </a:xfrm>
          <a:prstGeom prst="rect">
            <a:avLst/>
          </a:prstGeom>
          <a:noFill/>
        </p:spPr>
        <p:txBody>
          <a:bodyPr wrap="square" rtlCol="0">
            <a:spAutoFit/>
          </a:bodyPr>
          <a:lstStyle/>
          <a:p>
            <a:r>
              <a:rPr lang="es-CL" sz="1600" dirty="0"/>
              <a:t>• </a:t>
            </a:r>
            <a:r>
              <a:rPr lang="es-CL" sz="1600" b="1" dirty="0"/>
              <a:t>Propósito:</a:t>
            </a:r>
            <a:r>
              <a:rPr lang="es-CL" sz="1600" dirty="0"/>
              <a:t> Representar los requisitos funcionales desde la perspectiva del usuario.</a:t>
            </a:r>
            <a:br>
              <a:rPr lang="es-CL" sz="1600" dirty="0"/>
            </a:br>
            <a:r>
              <a:rPr lang="es-CL" sz="1600" dirty="0"/>
              <a:t>• </a:t>
            </a:r>
            <a:r>
              <a:rPr lang="es-CL" sz="1600" b="1" dirty="0"/>
              <a:t>Actores clave:</a:t>
            </a:r>
            <a:r>
              <a:rPr lang="es-CL" sz="1600" dirty="0"/>
              <a:t> Administrador, Residente y Comité.</a:t>
            </a:r>
            <a:br>
              <a:rPr lang="es-CL" sz="1600" dirty="0"/>
            </a:br>
            <a:r>
              <a:rPr lang="es-CL" sz="1600" dirty="0"/>
              <a:t>• </a:t>
            </a:r>
            <a:r>
              <a:rPr lang="es-CL" sz="1600" b="1" dirty="0"/>
              <a:t>Caso principal (CU-01):</a:t>
            </a:r>
            <a:r>
              <a:rPr lang="es-CL" sz="1600" dirty="0"/>
              <a:t> Generación de Reporte de Morosidad, que articula la gestión financiera del edificio.</a:t>
            </a:r>
          </a:p>
        </p:txBody>
      </p:sp>
      <p:pic>
        <p:nvPicPr>
          <p:cNvPr id="7" name="Image 2">
            <a:extLst>
              <a:ext uri="{FF2B5EF4-FFF2-40B4-BE49-F238E27FC236}">
                <a16:creationId xmlns:a16="http://schemas.microsoft.com/office/drawing/2014/main" id="{185B99B7-497D-750B-ADC5-82176573ACF2}"/>
              </a:ext>
            </a:extLst>
          </p:cNvPr>
          <p:cNvPicPr>
            <a:picLocks/>
          </p:cNvPicPr>
          <p:nvPr/>
        </p:nvPicPr>
        <p:blipFill>
          <a:blip r:embed="rId3" cstate="print"/>
          <a:stretch>
            <a:fillRect/>
          </a:stretch>
        </p:blipFill>
        <p:spPr>
          <a:xfrm>
            <a:off x="37011" y="1125965"/>
            <a:ext cx="6058989" cy="4323113"/>
          </a:xfrm>
          <a:prstGeom prst="rect">
            <a:avLst/>
          </a:prstGeom>
        </p:spPr>
      </p:pic>
      <p:pic>
        <p:nvPicPr>
          <p:cNvPr id="8" name="Image 3">
            <a:extLst>
              <a:ext uri="{FF2B5EF4-FFF2-40B4-BE49-F238E27FC236}">
                <a16:creationId xmlns:a16="http://schemas.microsoft.com/office/drawing/2014/main" id="{4FFF44B5-BF0E-B684-3CDE-83E3B4456C2F}"/>
              </a:ext>
            </a:extLst>
          </p:cNvPr>
          <p:cNvPicPr>
            <a:picLocks/>
          </p:cNvPicPr>
          <p:nvPr/>
        </p:nvPicPr>
        <p:blipFill>
          <a:blip r:embed="rId4" cstate="print"/>
          <a:stretch>
            <a:fillRect/>
          </a:stretch>
        </p:blipFill>
        <p:spPr>
          <a:xfrm>
            <a:off x="6474810" y="1125964"/>
            <a:ext cx="5253770" cy="4323113"/>
          </a:xfrm>
          <a:prstGeom prst="rect">
            <a:avLst/>
          </a:prstGeom>
        </p:spPr>
      </p:pic>
    </p:spTree>
    <p:extLst>
      <p:ext uri="{BB962C8B-B14F-4D97-AF65-F5344CB8AC3E}">
        <p14:creationId xmlns:p14="http://schemas.microsoft.com/office/powerpoint/2010/main" val="297729968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CCC5F-8E41-CFBC-AC3E-D3CCE3C1ED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4E4B7A-4FCF-7F26-840D-C41BA22000D4}"/>
              </a:ext>
            </a:extLst>
          </p:cNvPr>
          <p:cNvSpPr>
            <a:spLocks noGrp="1"/>
          </p:cNvSpPr>
          <p:nvPr>
            <p:ph type="title"/>
          </p:nvPr>
        </p:nvSpPr>
        <p:spPr>
          <a:xfrm>
            <a:off x="399662" y="291392"/>
            <a:ext cx="7913914" cy="617668"/>
          </a:xfrm>
        </p:spPr>
        <p:txBody>
          <a:bodyPr>
            <a:noAutofit/>
          </a:bodyPr>
          <a:lstStyle/>
          <a:p>
            <a:r>
              <a:rPr lang="es-CL" sz="3200" b="1" dirty="0"/>
              <a:t>Vista Lógica</a:t>
            </a:r>
            <a:endParaRPr lang="es-CL" sz="3200" dirty="0"/>
          </a:p>
        </p:txBody>
      </p:sp>
      <p:pic>
        <p:nvPicPr>
          <p:cNvPr id="5" name="Picture 2" descr="EscuelaIT Duoc UC - Escuela de Informática y Telecomunicaciones Duoc UC - Duoc  UC | LinkedIn">
            <a:extLst>
              <a:ext uri="{FF2B5EF4-FFF2-40B4-BE49-F238E27FC236}">
                <a16:creationId xmlns:a16="http://schemas.microsoft.com/office/drawing/2014/main" id="{97005DAC-E254-B126-995F-FB0C1A9743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E27421D-C52F-2010-5C3F-F0F84FA2AB8F}"/>
              </a:ext>
            </a:extLst>
          </p:cNvPr>
          <p:cNvSpPr txBox="1"/>
          <p:nvPr/>
        </p:nvSpPr>
        <p:spPr>
          <a:xfrm>
            <a:off x="8313576" y="2006684"/>
            <a:ext cx="3481873" cy="2031325"/>
          </a:xfrm>
          <a:prstGeom prst="rect">
            <a:avLst/>
          </a:prstGeom>
          <a:noFill/>
        </p:spPr>
        <p:txBody>
          <a:bodyPr wrap="square" rtlCol="0">
            <a:spAutoFit/>
          </a:bodyPr>
          <a:lstStyle/>
          <a:p>
            <a:r>
              <a:rPr lang="es-CL" sz="1400" dirty="0"/>
              <a:t>• </a:t>
            </a:r>
            <a:r>
              <a:rPr lang="es-CL" sz="1400" b="1" dirty="0"/>
              <a:t>Propósito:</a:t>
            </a:r>
            <a:r>
              <a:rPr lang="es-CL" sz="1400" dirty="0"/>
              <a:t> Definir la estructura estática del dominio.</a:t>
            </a:r>
            <a:br>
              <a:rPr lang="es-CL" sz="1200" dirty="0"/>
            </a:br>
            <a:r>
              <a:rPr lang="es-CL" sz="1400" dirty="0"/>
              <a:t>• </a:t>
            </a:r>
            <a:r>
              <a:rPr lang="es-CL" sz="1400" b="1" dirty="0"/>
              <a:t>Entidades base:</a:t>
            </a:r>
            <a:r>
              <a:rPr lang="es-CL" sz="1400" dirty="0"/>
              <a:t> Edificio, Unidad, Usuario (con herencia en Administrador/Residente).</a:t>
            </a:r>
            <a:br>
              <a:rPr lang="es-CL" sz="1200" dirty="0"/>
            </a:br>
            <a:r>
              <a:rPr lang="es-CL" sz="1400" dirty="0"/>
              <a:t>• </a:t>
            </a:r>
            <a:r>
              <a:rPr lang="es-CL" sz="1400" b="1" dirty="0"/>
              <a:t>Módulo financiero:</a:t>
            </a:r>
            <a:r>
              <a:rPr lang="es-CL" sz="1400" dirty="0"/>
              <a:t> Pago y Morosidad, asociados a Unidad.</a:t>
            </a:r>
            <a:br>
              <a:rPr lang="es-CL" sz="1200" dirty="0"/>
            </a:br>
            <a:r>
              <a:rPr lang="es-CL" sz="1400" dirty="0"/>
              <a:t>• </a:t>
            </a:r>
            <a:r>
              <a:rPr lang="es-CL" sz="1400" b="1" dirty="0"/>
              <a:t>Desacoplamiento:</a:t>
            </a:r>
            <a:r>
              <a:rPr lang="es-CL" sz="1400" dirty="0"/>
              <a:t> Uso de interfaces (</a:t>
            </a:r>
            <a:r>
              <a:rPr lang="es-CL" sz="1400" dirty="0" err="1"/>
              <a:t>ISistemaPago</a:t>
            </a:r>
            <a:r>
              <a:rPr lang="es-CL" sz="1400" dirty="0"/>
              <a:t>) para integrar WebPay sin acoplar la lógica.</a:t>
            </a:r>
            <a:endParaRPr lang="es-CL" sz="1200" dirty="0"/>
          </a:p>
        </p:txBody>
      </p:sp>
      <p:pic>
        <p:nvPicPr>
          <p:cNvPr id="3" name="Image 4">
            <a:extLst>
              <a:ext uri="{FF2B5EF4-FFF2-40B4-BE49-F238E27FC236}">
                <a16:creationId xmlns:a16="http://schemas.microsoft.com/office/drawing/2014/main" id="{0617A15D-D57C-D197-D662-44D46F350720}"/>
              </a:ext>
            </a:extLst>
          </p:cNvPr>
          <p:cNvPicPr>
            <a:picLocks/>
          </p:cNvPicPr>
          <p:nvPr/>
        </p:nvPicPr>
        <p:blipFill>
          <a:blip r:embed="rId3" cstate="print"/>
          <a:stretch>
            <a:fillRect/>
          </a:stretch>
        </p:blipFill>
        <p:spPr>
          <a:xfrm>
            <a:off x="278442" y="989871"/>
            <a:ext cx="7764546" cy="5511953"/>
          </a:xfrm>
          <a:prstGeom prst="rect">
            <a:avLst/>
          </a:prstGeom>
        </p:spPr>
      </p:pic>
    </p:spTree>
    <p:extLst>
      <p:ext uri="{BB962C8B-B14F-4D97-AF65-F5344CB8AC3E}">
        <p14:creationId xmlns:p14="http://schemas.microsoft.com/office/powerpoint/2010/main" val="85715544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8476C-6302-786F-7212-68F931975A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93AF97-03C6-F791-F21B-E898E23E9EF9}"/>
              </a:ext>
            </a:extLst>
          </p:cNvPr>
          <p:cNvSpPr>
            <a:spLocks noGrp="1"/>
          </p:cNvSpPr>
          <p:nvPr>
            <p:ph type="title"/>
          </p:nvPr>
        </p:nvSpPr>
        <p:spPr>
          <a:xfrm>
            <a:off x="399662" y="291392"/>
            <a:ext cx="7913914" cy="617668"/>
          </a:xfrm>
        </p:spPr>
        <p:txBody>
          <a:bodyPr>
            <a:noAutofit/>
          </a:bodyPr>
          <a:lstStyle/>
          <a:p>
            <a:r>
              <a:rPr lang="es-CL" sz="3200" b="1" dirty="0"/>
              <a:t>Vista de Desarrollo</a:t>
            </a:r>
            <a:endParaRPr lang="es-CL" sz="2000" dirty="0"/>
          </a:p>
        </p:txBody>
      </p:sp>
      <p:pic>
        <p:nvPicPr>
          <p:cNvPr id="5" name="Picture 2" descr="EscuelaIT Duoc UC - Escuela de Informática y Telecomunicaciones Duoc UC - Duoc  UC | LinkedIn">
            <a:extLst>
              <a:ext uri="{FF2B5EF4-FFF2-40B4-BE49-F238E27FC236}">
                <a16:creationId xmlns:a16="http://schemas.microsoft.com/office/drawing/2014/main" id="{18F67961-5262-0FCA-B339-541412A85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20E5280-53FD-B6F6-C8AE-C41CE0F53E47}"/>
              </a:ext>
            </a:extLst>
          </p:cNvPr>
          <p:cNvSpPr txBox="1"/>
          <p:nvPr/>
        </p:nvSpPr>
        <p:spPr>
          <a:xfrm>
            <a:off x="177282" y="5911786"/>
            <a:ext cx="7128588" cy="738664"/>
          </a:xfrm>
          <a:prstGeom prst="rect">
            <a:avLst/>
          </a:prstGeom>
          <a:noFill/>
        </p:spPr>
        <p:txBody>
          <a:bodyPr wrap="square" rtlCol="0">
            <a:spAutoFit/>
          </a:bodyPr>
          <a:lstStyle/>
          <a:p>
            <a:r>
              <a:rPr lang="es-CL" sz="1400" dirty="0"/>
              <a:t>• </a:t>
            </a:r>
            <a:r>
              <a:rPr lang="es-CL" sz="1400" b="1" dirty="0"/>
              <a:t>Propósito:</a:t>
            </a:r>
            <a:r>
              <a:rPr lang="es-CL" sz="1400" dirty="0"/>
              <a:t> Mostrar la organización del código fuente y sus dependencias.</a:t>
            </a:r>
            <a:br>
              <a:rPr lang="es-CL" sz="1100" dirty="0"/>
            </a:br>
            <a:r>
              <a:rPr lang="es-CL" sz="1400" dirty="0"/>
              <a:t>• </a:t>
            </a:r>
            <a:r>
              <a:rPr lang="es-CL" sz="1400" b="1" dirty="0"/>
              <a:t>Arquitectura en capas:</a:t>
            </a:r>
            <a:r>
              <a:rPr lang="es-CL" sz="1400" dirty="0"/>
              <a:t> Presentación (UI), Lógica de Negocio (API REST) y Datos (Repositorios).</a:t>
            </a:r>
            <a:br>
              <a:rPr lang="es-CL" sz="1100" dirty="0"/>
            </a:br>
            <a:r>
              <a:rPr lang="es-CL" sz="1400" dirty="0"/>
              <a:t>• </a:t>
            </a:r>
            <a:r>
              <a:rPr lang="es-CL" sz="1400" b="1" dirty="0"/>
              <a:t>Módulos independientes:</a:t>
            </a:r>
            <a:r>
              <a:rPr lang="es-CL" sz="1400" dirty="0"/>
              <a:t> Financiero, Notificaciones, Reportes y Autenticación.</a:t>
            </a:r>
            <a:endParaRPr lang="es-CL" sz="1050" dirty="0"/>
          </a:p>
        </p:txBody>
      </p:sp>
      <p:pic>
        <p:nvPicPr>
          <p:cNvPr id="4" name="Image 5">
            <a:extLst>
              <a:ext uri="{FF2B5EF4-FFF2-40B4-BE49-F238E27FC236}">
                <a16:creationId xmlns:a16="http://schemas.microsoft.com/office/drawing/2014/main" id="{4BD8385B-8B0F-8EEF-6DD5-EB5ABE6FADB7}"/>
              </a:ext>
            </a:extLst>
          </p:cNvPr>
          <p:cNvPicPr>
            <a:picLocks/>
          </p:cNvPicPr>
          <p:nvPr/>
        </p:nvPicPr>
        <p:blipFill>
          <a:blip r:embed="rId3" cstate="print"/>
          <a:stretch>
            <a:fillRect/>
          </a:stretch>
        </p:blipFill>
        <p:spPr>
          <a:xfrm>
            <a:off x="177282" y="992902"/>
            <a:ext cx="6826131" cy="4726763"/>
          </a:xfrm>
          <a:prstGeom prst="rect">
            <a:avLst/>
          </a:prstGeom>
        </p:spPr>
      </p:pic>
      <p:pic>
        <p:nvPicPr>
          <p:cNvPr id="11" name="Image 6">
            <a:extLst>
              <a:ext uri="{FF2B5EF4-FFF2-40B4-BE49-F238E27FC236}">
                <a16:creationId xmlns:a16="http://schemas.microsoft.com/office/drawing/2014/main" id="{44BE6C61-4029-2932-AD8E-411D6715953B}"/>
              </a:ext>
            </a:extLst>
          </p:cNvPr>
          <p:cNvPicPr>
            <a:picLocks/>
          </p:cNvPicPr>
          <p:nvPr/>
        </p:nvPicPr>
        <p:blipFill>
          <a:blip r:embed="rId4" cstate="print"/>
          <a:stretch>
            <a:fillRect/>
          </a:stretch>
        </p:blipFill>
        <p:spPr>
          <a:xfrm>
            <a:off x="7764446" y="992902"/>
            <a:ext cx="4112166" cy="5573706"/>
          </a:xfrm>
          <a:prstGeom prst="rect">
            <a:avLst/>
          </a:prstGeom>
        </p:spPr>
      </p:pic>
    </p:spTree>
    <p:extLst>
      <p:ext uri="{BB962C8B-B14F-4D97-AF65-F5344CB8AC3E}">
        <p14:creationId xmlns:p14="http://schemas.microsoft.com/office/powerpoint/2010/main" val="377235075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3D23-B364-CBE3-D0DD-A0417A261A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F1EC81-D625-C9F4-CC00-25F5EF7344ED}"/>
              </a:ext>
            </a:extLst>
          </p:cNvPr>
          <p:cNvSpPr>
            <a:spLocks noGrp="1"/>
          </p:cNvSpPr>
          <p:nvPr>
            <p:ph type="title"/>
          </p:nvPr>
        </p:nvSpPr>
        <p:spPr>
          <a:xfrm>
            <a:off x="399662" y="291392"/>
            <a:ext cx="7913914" cy="617668"/>
          </a:xfrm>
        </p:spPr>
        <p:txBody>
          <a:bodyPr>
            <a:noAutofit/>
          </a:bodyPr>
          <a:lstStyle/>
          <a:p>
            <a:r>
              <a:rPr lang="es-CL" sz="3200" b="1" dirty="0"/>
              <a:t>Vista de Procesos</a:t>
            </a:r>
            <a:endParaRPr lang="es-CL" sz="1400" dirty="0"/>
          </a:p>
        </p:txBody>
      </p:sp>
      <p:pic>
        <p:nvPicPr>
          <p:cNvPr id="5" name="Picture 2" descr="EscuelaIT Duoc UC - Escuela de Informática y Telecomunicaciones Duoc UC - Duoc  UC | LinkedIn">
            <a:extLst>
              <a:ext uri="{FF2B5EF4-FFF2-40B4-BE49-F238E27FC236}">
                <a16:creationId xmlns:a16="http://schemas.microsoft.com/office/drawing/2014/main" id="{00059EDE-C41D-FB1F-C711-06DE5F5FC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F5B47B5-F298-3FE1-9A34-ABAEF84D7472}"/>
              </a:ext>
            </a:extLst>
          </p:cNvPr>
          <p:cNvSpPr txBox="1"/>
          <p:nvPr/>
        </p:nvSpPr>
        <p:spPr>
          <a:xfrm>
            <a:off x="8313576" y="2334277"/>
            <a:ext cx="3481873" cy="1600438"/>
          </a:xfrm>
          <a:prstGeom prst="rect">
            <a:avLst/>
          </a:prstGeom>
          <a:noFill/>
        </p:spPr>
        <p:txBody>
          <a:bodyPr wrap="square" rtlCol="0">
            <a:spAutoFit/>
          </a:bodyPr>
          <a:lstStyle/>
          <a:p>
            <a:r>
              <a:rPr lang="es-CL" sz="1400" dirty="0"/>
              <a:t>• </a:t>
            </a:r>
            <a:r>
              <a:rPr lang="es-CL" sz="1400" b="1" dirty="0"/>
              <a:t>Propósito:</a:t>
            </a:r>
            <a:r>
              <a:rPr lang="es-CL" sz="1400" dirty="0"/>
              <a:t> Modelar el comportamiento dinámico y los flujos de control.</a:t>
            </a:r>
            <a:br>
              <a:rPr lang="es-CL" sz="1200" dirty="0"/>
            </a:br>
            <a:r>
              <a:rPr lang="es-CL" sz="1400" dirty="0"/>
              <a:t>• </a:t>
            </a:r>
            <a:r>
              <a:rPr lang="es-CL" sz="1400" b="1" dirty="0"/>
              <a:t>Flujo crítico:</a:t>
            </a:r>
            <a:r>
              <a:rPr lang="es-CL" sz="1400" dirty="0"/>
              <a:t> Generación del Reporte de Morosidad (autenticación -&gt; filtros -&gt; consulta de pagos -&gt; cálculo -&gt; exportación).</a:t>
            </a:r>
            <a:br>
              <a:rPr lang="es-CL" sz="1200" dirty="0"/>
            </a:br>
            <a:r>
              <a:rPr lang="es-CL" sz="1400" dirty="0"/>
              <a:t>• </a:t>
            </a:r>
            <a:r>
              <a:rPr lang="es-CL" sz="1400" b="1" dirty="0"/>
              <a:t>Decisiones clave:</a:t>
            </a:r>
            <a:r>
              <a:rPr lang="es-CL" sz="1400" dirty="0"/>
              <a:t> Validación de permisos y opción de exportar a PDF/Excel.</a:t>
            </a:r>
            <a:endParaRPr lang="es-CL" sz="900" dirty="0"/>
          </a:p>
        </p:txBody>
      </p:sp>
      <p:pic>
        <p:nvPicPr>
          <p:cNvPr id="3" name="Image 7">
            <a:extLst>
              <a:ext uri="{FF2B5EF4-FFF2-40B4-BE49-F238E27FC236}">
                <a16:creationId xmlns:a16="http://schemas.microsoft.com/office/drawing/2014/main" id="{C5B545AB-EED0-B05C-91E4-2EEBE8A05DFF}"/>
              </a:ext>
            </a:extLst>
          </p:cNvPr>
          <p:cNvPicPr>
            <a:picLocks/>
          </p:cNvPicPr>
          <p:nvPr/>
        </p:nvPicPr>
        <p:blipFill>
          <a:blip r:embed="rId3" cstate="print"/>
          <a:stretch>
            <a:fillRect/>
          </a:stretch>
        </p:blipFill>
        <p:spPr>
          <a:xfrm>
            <a:off x="396551" y="909060"/>
            <a:ext cx="7627776" cy="5883626"/>
          </a:xfrm>
          <a:prstGeom prst="rect">
            <a:avLst/>
          </a:prstGeom>
        </p:spPr>
      </p:pic>
    </p:spTree>
    <p:extLst>
      <p:ext uri="{BB962C8B-B14F-4D97-AF65-F5344CB8AC3E}">
        <p14:creationId xmlns:p14="http://schemas.microsoft.com/office/powerpoint/2010/main" val="22410407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6CD6-6701-8327-C692-121300B244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DBBD82-E4F4-638D-D632-412C5A570546}"/>
              </a:ext>
            </a:extLst>
          </p:cNvPr>
          <p:cNvSpPr>
            <a:spLocks noGrp="1"/>
          </p:cNvSpPr>
          <p:nvPr>
            <p:ph type="title"/>
          </p:nvPr>
        </p:nvSpPr>
        <p:spPr>
          <a:xfrm>
            <a:off x="399662" y="291392"/>
            <a:ext cx="7913914" cy="617668"/>
          </a:xfrm>
        </p:spPr>
        <p:txBody>
          <a:bodyPr>
            <a:noAutofit/>
          </a:bodyPr>
          <a:lstStyle/>
          <a:p>
            <a:r>
              <a:rPr lang="es-CL" sz="3200" b="1" dirty="0"/>
              <a:t>Vista Física</a:t>
            </a:r>
            <a:endParaRPr lang="es-CL" sz="1400" dirty="0"/>
          </a:p>
        </p:txBody>
      </p:sp>
      <p:pic>
        <p:nvPicPr>
          <p:cNvPr id="5" name="Picture 2" descr="EscuelaIT Duoc UC - Escuela de Informática y Telecomunicaciones Duoc UC - Duoc  UC | LinkedIn">
            <a:extLst>
              <a:ext uri="{FF2B5EF4-FFF2-40B4-BE49-F238E27FC236}">
                <a16:creationId xmlns:a16="http://schemas.microsoft.com/office/drawing/2014/main" id="{C312FADD-FB3B-2BDE-94F6-578792F17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C9A3B912-B3B7-3212-82FE-EB97B7FBC344}"/>
              </a:ext>
            </a:extLst>
          </p:cNvPr>
          <p:cNvSpPr txBox="1"/>
          <p:nvPr/>
        </p:nvSpPr>
        <p:spPr>
          <a:xfrm>
            <a:off x="8313576" y="2334277"/>
            <a:ext cx="3481873" cy="1600438"/>
          </a:xfrm>
          <a:prstGeom prst="rect">
            <a:avLst/>
          </a:prstGeom>
          <a:noFill/>
        </p:spPr>
        <p:txBody>
          <a:bodyPr wrap="square" rtlCol="0">
            <a:spAutoFit/>
          </a:bodyPr>
          <a:lstStyle/>
          <a:p>
            <a:r>
              <a:rPr lang="es-CL" sz="1400" dirty="0"/>
              <a:t>• </a:t>
            </a:r>
            <a:r>
              <a:rPr lang="es-CL" sz="1400" b="1" dirty="0"/>
              <a:t>Propósito:</a:t>
            </a:r>
            <a:r>
              <a:rPr lang="es-CL" sz="1400" dirty="0"/>
              <a:t> Representar la infraestructura de hardware y red.</a:t>
            </a:r>
            <a:br>
              <a:rPr lang="es-CL" sz="1100" dirty="0"/>
            </a:br>
            <a:r>
              <a:rPr lang="es-CL" sz="1400" dirty="0"/>
              <a:t>• </a:t>
            </a:r>
            <a:r>
              <a:rPr lang="es-CL" sz="1400" b="1" dirty="0"/>
              <a:t>Nodos internos:</a:t>
            </a:r>
            <a:r>
              <a:rPr lang="es-CL" sz="1400" dirty="0"/>
              <a:t> Cliente (HTTPS), Servidor de Aplicación (API) y Servidor de BD.</a:t>
            </a:r>
            <a:br>
              <a:rPr lang="es-CL" sz="1100" dirty="0"/>
            </a:br>
            <a:r>
              <a:rPr lang="es-CL" sz="1400" dirty="0"/>
              <a:t>• </a:t>
            </a:r>
            <a:r>
              <a:rPr lang="es-CL" sz="1400" b="1" dirty="0"/>
              <a:t>Nodos externos:</a:t>
            </a:r>
            <a:r>
              <a:rPr lang="es-CL" sz="1400" dirty="0"/>
              <a:t> WebPay y Servicio de Email/SMS, consumidos vía HTTPS para garantizar seguridad (RNF-10/11)</a:t>
            </a:r>
            <a:endParaRPr lang="es-CL" sz="700" dirty="0"/>
          </a:p>
        </p:txBody>
      </p:sp>
      <p:pic>
        <p:nvPicPr>
          <p:cNvPr id="10" name="Image 8">
            <a:extLst>
              <a:ext uri="{FF2B5EF4-FFF2-40B4-BE49-F238E27FC236}">
                <a16:creationId xmlns:a16="http://schemas.microsoft.com/office/drawing/2014/main" id="{D2B70C4E-EEF3-71DE-6968-F0F791ABB692}"/>
              </a:ext>
            </a:extLst>
          </p:cNvPr>
          <p:cNvPicPr>
            <a:picLocks/>
          </p:cNvPicPr>
          <p:nvPr/>
        </p:nvPicPr>
        <p:blipFill>
          <a:blip r:embed="rId3" cstate="print"/>
          <a:stretch>
            <a:fillRect/>
          </a:stretch>
        </p:blipFill>
        <p:spPr>
          <a:xfrm>
            <a:off x="555949" y="1078137"/>
            <a:ext cx="7282543" cy="5210695"/>
          </a:xfrm>
          <a:prstGeom prst="rect">
            <a:avLst/>
          </a:prstGeom>
        </p:spPr>
      </p:pic>
    </p:spTree>
    <p:extLst>
      <p:ext uri="{BB962C8B-B14F-4D97-AF65-F5344CB8AC3E}">
        <p14:creationId xmlns:p14="http://schemas.microsoft.com/office/powerpoint/2010/main" val="211289495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78441" y="887694"/>
            <a:ext cx="12191999" cy="646331"/>
          </a:xfrm>
          <a:prstGeom prst="rect">
            <a:avLst/>
          </a:prstGeom>
          <a:noFill/>
        </p:spPr>
        <p:txBody>
          <a:bodyPr wrap="square" rtlCol="0">
            <a:spAutoFit/>
          </a:bodyPr>
          <a:lstStyle/>
          <a:p>
            <a:pPr algn="ctr"/>
            <a:r>
              <a:rPr lang="es-MX" sz="3600" dirty="0"/>
              <a:t>REQUISITOS FUNCIONALES Y NO FUNCIONALES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2" name="Tabla 1">
            <a:extLst>
              <a:ext uri="{FF2B5EF4-FFF2-40B4-BE49-F238E27FC236}">
                <a16:creationId xmlns:a16="http://schemas.microsoft.com/office/drawing/2014/main" id="{794D66C1-76C3-0E61-986A-B593D40E8794}"/>
              </a:ext>
            </a:extLst>
          </p:cNvPr>
          <p:cNvGraphicFramePr>
            <a:graphicFrameLocks noGrp="1"/>
          </p:cNvGraphicFramePr>
          <p:nvPr>
            <p:extLst>
              <p:ext uri="{D42A27DB-BD31-4B8C-83A1-F6EECF244321}">
                <p14:modId xmlns:p14="http://schemas.microsoft.com/office/powerpoint/2010/main" val="2103787653"/>
              </p:ext>
            </p:extLst>
          </p:nvPr>
        </p:nvGraphicFramePr>
        <p:xfrm>
          <a:off x="1789405" y="1663691"/>
          <a:ext cx="8101046" cy="4986759"/>
        </p:xfrm>
        <a:graphic>
          <a:graphicData uri="http://schemas.openxmlformats.org/drawingml/2006/table">
            <a:tbl>
              <a:tblPr firstRow="1" bandRow="1">
                <a:tableStyleId>{073A0DAA-6AF3-43AB-8588-CEC1D06C72B9}</a:tableStyleId>
              </a:tblPr>
              <a:tblGrid>
                <a:gridCol w="4050523">
                  <a:extLst>
                    <a:ext uri="{9D8B030D-6E8A-4147-A177-3AD203B41FA5}">
                      <a16:colId xmlns:a16="http://schemas.microsoft.com/office/drawing/2014/main" val="1135508897"/>
                    </a:ext>
                  </a:extLst>
                </a:gridCol>
                <a:gridCol w="4050523">
                  <a:extLst>
                    <a:ext uri="{9D8B030D-6E8A-4147-A177-3AD203B41FA5}">
                      <a16:colId xmlns:a16="http://schemas.microsoft.com/office/drawing/2014/main" val="3786438729"/>
                    </a:ext>
                  </a:extLst>
                </a:gridCol>
              </a:tblGrid>
              <a:tr h="667635">
                <a:tc>
                  <a:txBody>
                    <a:bodyPr/>
                    <a:lstStyle/>
                    <a:p>
                      <a:pPr algn="ctr"/>
                      <a:r>
                        <a:rPr lang="es-CL" sz="1800" b="1" i="0" kern="1200" dirty="0">
                          <a:solidFill>
                            <a:schemeClr val="lt1"/>
                          </a:solidFill>
                          <a:effectLst/>
                          <a:latin typeface="+mn-lt"/>
                          <a:ea typeface="+mn-ea"/>
                          <a:cs typeface="+mn-cs"/>
                        </a:rPr>
                        <a:t>REQUISITOS FUNCIONALES (MÍNIMOS)</a:t>
                      </a:r>
                      <a:endParaRPr lang="es-CL" dirty="0"/>
                    </a:p>
                  </a:txBody>
                  <a:tcPr/>
                </a:tc>
                <a:tc>
                  <a:txBody>
                    <a:bodyPr/>
                    <a:lstStyle/>
                    <a:p>
                      <a:pPr algn="ctr"/>
                      <a:r>
                        <a:rPr lang="es-CL" sz="1800" b="1" i="0" kern="1200" dirty="0">
                          <a:solidFill>
                            <a:schemeClr val="lt1"/>
                          </a:solidFill>
                          <a:effectLst/>
                          <a:latin typeface="+mn-lt"/>
                          <a:ea typeface="+mn-ea"/>
                          <a:cs typeface="+mn-cs"/>
                        </a:rPr>
                        <a:t>REQUISITOS NO FUNCIONALES (MÍNIMOS)</a:t>
                      </a:r>
                      <a:endParaRPr lang="es-CL" dirty="0"/>
                    </a:p>
                  </a:txBody>
                  <a:tcPr/>
                </a:tc>
                <a:extLst>
                  <a:ext uri="{0D108BD9-81ED-4DB2-BD59-A6C34878D82A}">
                    <a16:rowId xmlns:a16="http://schemas.microsoft.com/office/drawing/2014/main" val="86701342"/>
                  </a:ext>
                </a:extLst>
              </a:tr>
              <a:tr h="1089025">
                <a:tc>
                  <a:txBody>
                    <a:bodyPr/>
                    <a:lstStyle/>
                    <a:p>
                      <a:r>
                        <a:rPr lang="es-CL" sz="1600" b="1" i="0" kern="1200" dirty="0">
                          <a:solidFill>
                            <a:schemeClr val="dk1"/>
                          </a:solidFill>
                          <a:effectLst/>
                          <a:latin typeface="+mn-lt"/>
                          <a:ea typeface="+mn-ea"/>
                          <a:cs typeface="+mn-cs"/>
                        </a:rPr>
                        <a:t>1.</a:t>
                      </a:r>
                      <a:r>
                        <a:rPr lang="es-CL" sz="1600" b="0" i="0" kern="1200" dirty="0">
                          <a:solidFill>
                            <a:schemeClr val="dk1"/>
                          </a:solidFill>
                          <a:effectLst/>
                          <a:latin typeface="+mn-lt"/>
                          <a:ea typeface="+mn-ea"/>
                          <a:cs typeface="+mn-cs"/>
                        </a:rPr>
                        <a:t> Gestión de Usuarios y Unidades (RF-01, RF-04, RF-05)</a:t>
                      </a:r>
                      <a:br>
                        <a:rPr lang="es-CL" sz="1600" dirty="0"/>
                      </a:br>
                      <a:r>
                        <a:rPr lang="es-CL" sz="1600" b="0" i="0" kern="1200" dirty="0">
                          <a:solidFill>
                            <a:schemeClr val="dk1"/>
                          </a:solidFill>
                          <a:effectLst/>
                          <a:latin typeface="+mn-lt"/>
                          <a:ea typeface="+mn-ea"/>
                          <a:cs typeface="+mn-cs"/>
                        </a:rPr>
                        <a:t>Registro de propietarios/arrendatarios y departamentos.</a:t>
                      </a:r>
                      <a:endParaRPr lang="es-CL" sz="1600" dirty="0"/>
                    </a:p>
                  </a:txBody>
                  <a:tcPr/>
                </a:tc>
                <a:tc>
                  <a:txBody>
                    <a:bodyPr/>
                    <a:lstStyle/>
                    <a:p>
                      <a:r>
                        <a:rPr lang="es-CL" sz="1600" b="1" i="0" kern="1200" dirty="0">
                          <a:solidFill>
                            <a:schemeClr val="dk1"/>
                          </a:solidFill>
                          <a:effectLst/>
                          <a:latin typeface="+mn-lt"/>
                          <a:ea typeface="+mn-ea"/>
                          <a:cs typeface="+mn-cs"/>
                        </a:rPr>
                        <a:t>1. </a:t>
                      </a:r>
                      <a:r>
                        <a:rPr lang="es-CL" sz="1600" b="0" i="0" kern="1200" dirty="0">
                          <a:solidFill>
                            <a:schemeClr val="dk1"/>
                          </a:solidFill>
                          <a:effectLst/>
                          <a:latin typeface="+mn-lt"/>
                          <a:ea typeface="+mn-ea"/>
                          <a:cs typeface="+mn-cs"/>
                        </a:rPr>
                        <a:t>Seguridad y Acceso (RNF-10, RNF-11)</a:t>
                      </a:r>
                      <a:br>
                        <a:rPr lang="es-CL" sz="1600" dirty="0"/>
                      </a:br>
                      <a:r>
                        <a:rPr lang="es-CL" sz="1600" b="0" i="0" kern="1200" dirty="0">
                          <a:solidFill>
                            <a:schemeClr val="dk1"/>
                          </a:solidFill>
                          <a:effectLst/>
                          <a:latin typeface="+mn-lt"/>
                          <a:ea typeface="+mn-ea"/>
                          <a:cs typeface="+mn-cs"/>
                        </a:rPr>
                        <a:t>Autenticación por roles, cifrado HTTPS y protección de datos financieros.</a:t>
                      </a:r>
                      <a:endParaRPr lang="es-CL" sz="1600" dirty="0"/>
                    </a:p>
                  </a:txBody>
                  <a:tcPr/>
                </a:tc>
                <a:extLst>
                  <a:ext uri="{0D108BD9-81ED-4DB2-BD59-A6C34878D82A}">
                    <a16:rowId xmlns:a16="http://schemas.microsoft.com/office/drawing/2014/main" val="1415386663"/>
                  </a:ext>
                </a:extLst>
              </a:tr>
              <a:tr h="1340339">
                <a:tc>
                  <a:txBody>
                    <a:bodyPr/>
                    <a:lstStyle/>
                    <a:p>
                      <a:r>
                        <a:rPr lang="es-CL" sz="1600" b="1" i="0" kern="1200" dirty="0">
                          <a:solidFill>
                            <a:schemeClr val="dk1"/>
                          </a:solidFill>
                          <a:effectLst/>
                          <a:latin typeface="+mn-lt"/>
                          <a:ea typeface="+mn-ea"/>
                          <a:cs typeface="+mn-cs"/>
                        </a:rPr>
                        <a:t>2.</a:t>
                      </a:r>
                      <a:r>
                        <a:rPr lang="es-CL" sz="1600" b="0" i="0" kern="1200" dirty="0">
                          <a:solidFill>
                            <a:schemeClr val="dk1"/>
                          </a:solidFill>
                          <a:effectLst/>
                          <a:latin typeface="+mn-lt"/>
                          <a:ea typeface="+mn-ea"/>
                          <a:cs typeface="+mn-cs"/>
                        </a:rPr>
                        <a:t> Ciclo Financiero y Cobranza (RF-06, RF-07, RF-10)</a:t>
                      </a:r>
                      <a:br>
                        <a:rPr lang="es-CL" sz="1600" dirty="0"/>
                      </a:br>
                      <a:r>
                        <a:rPr lang="es-CL" sz="1600" b="0" i="0" kern="1200" dirty="0">
                          <a:solidFill>
                            <a:schemeClr val="dk1"/>
                          </a:solidFill>
                          <a:effectLst/>
                          <a:latin typeface="+mn-lt"/>
                          <a:ea typeface="+mn-ea"/>
                          <a:cs typeface="+mn-cs"/>
                        </a:rPr>
                        <a:t>Cálculo automático de cuotas por prorrateo, registro de pagos vía WebPay y activación automática de morosidad.</a:t>
                      </a:r>
                      <a:endParaRPr lang="es-CL" sz="1600" dirty="0"/>
                    </a:p>
                  </a:txBody>
                  <a:tcPr/>
                </a:tc>
                <a:tc>
                  <a:txBody>
                    <a:bodyPr/>
                    <a:lstStyle/>
                    <a:p>
                      <a:r>
                        <a:rPr lang="es-CL" sz="1600" b="1" i="0" kern="1200" dirty="0">
                          <a:solidFill>
                            <a:schemeClr val="dk1"/>
                          </a:solidFill>
                          <a:effectLst/>
                          <a:latin typeface="+mn-lt"/>
                          <a:ea typeface="+mn-ea"/>
                          <a:cs typeface="+mn-cs"/>
                        </a:rPr>
                        <a:t>2. </a:t>
                      </a:r>
                      <a:r>
                        <a:rPr lang="es-CL" sz="1600" b="0" i="0" kern="1200" dirty="0">
                          <a:solidFill>
                            <a:schemeClr val="dk1"/>
                          </a:solidFill>
                          <a:effectLst/>
                          <a:latin typeface="+mn-lt"/>
                          <a:ea typeface="+mn-ea"/>
                          <a:cs typeface="+mn-cs"/>
                        </a:rPr>
                        <a:t>Interoperabilidad (RNF-18)</a:t>
                      </a:r>
                      <a:br>
                        <a:rPr lang="es-CL" sz="1600" dirty="0"/>
                      </a:br>
                      <a:r>
                        <a:rPr lang="es-CL" sz="1600" b="0" i="0" kern="1200" dirty="0">
                          <a:solidFill>
                            <a:schemeClr val="dk1"/>
                          </a:solidFill>
                          <a:effectLst/>
                          <a:latin typeface="+mn-lt"/>
                          <a:ea typeface="+mn-ea"/>
                          <a:cs typeface="+mn-cs"/>
                        </a:rPr>
                        <a:t>Integración con WebPay y Servicio de Notificaciones a través de APIs, sin acoplamiento.</a:t>
                      </a:r>
                      <a:endParaRPr lang="es-CL" sz="1600" dirty="0"/>
                    </a:p>
                  </a:txBody>
                  <a:tcPr/>
                </a:tc>
                <a:extLst>
                  <a:ext uri="{0D108BD9-81ED-4DB2-BD59-A6C34878D82A}">
                    <a16:rowId xmlns:a16="http://schemas.microsoft.com/office/drawing/2014/main" val="179831040"/>
                  </a:ext>
                </a:extLst>
              </a:tr>
              <a:tr h="700721">
                <a:tc>
                  <a:txBody>
                    <a:bodyPr/>
                    <a:lstStyle/>
                    <a:p>
                      <a:r>
                        <a:rPr lang="es-CL" sz="1600" b="1" i="0" kern="1200" dirty="0">
                          <a:solidFill>
                            <a:schemeClr val="dk1"/>
                          </a:solidFill>
                          <a:effectLst/>
                          <a:latin typeface="+mn-lt"/>
                          <a:ea typeface="+mn-ea"/>
                          <a:cs typeface="+mn-cs"/>
                        </a:rPr>
                        <a:t>3. </a:t>
                      </a:r>
                      <a:r>
                        <a:rPr lang="es-CL" sz="1600" b="0" i="0" kern="1200" dirty="0">
                          <a:solidFill>
                            <a:schemeClr val="dk1"/>
                          </a:solidFill>
                          <a:effectLst/>
                          <a:latin typeface="+mn-lt"/>
                          <a:ea typeface="+mn-ea"/>
                          <a:cs typeface="+mn-cs"/>
                        </a:rPr>
                        <a:t>Solicitudes y Atención (RF-15, RF-16)</a:t>
                      </a:r>
                      <a:br>
                        <a:rPr lang="es-CL" sz="1600" dirty="0"/>
                      </a:br>
                      <a:r>
                        <a:rPr lang="es-CL" sz="1600" b="0" i="0" kern="1200" dirty="0">
                          <a:solidFill>
                            <a:schemeClr val="dk1"/>
                          </a:solidFill>
                          <a:effectLst/>
                          <a:latin typeface="+mn-lt"/>
                          <a:ea typeface="+mn-ea"/>
                          <a:cs typeface="+mn-cs"/>
                        </a:rPr>
                        <a:t>Registro y seguimiento de quejas y solicitudes de mantención.</a:t>
                      </a:r>
                      <a:endParaRPr lang="es-CL" sz="1600" dirty="0"/>
                    </a:p>
                  </a:txBody>
                  <a:tcPr/>
                </a:tc>
                <a:tc>
                  <a:txBody>
                    <a:bodyPr/>
                    <a:lstStyle/>
                    <a:p>
                      <a:r>
                        <a:rPr lang="es-CL" sz="1600" b="1" i="0" kern="1200" dirty="0">
                          <a:solidFill>
                            <a:schemeClr val="dk1"/>
                          </a:solidFill>
                          <a:effectLst/>
                          <a:latin typeface="+mn-lt"/>
                          <a:ea typeface="+mn-ea"/>
                          <a:cs typeface="+mn-cs"/>
                        </a:rPr>
                        <a:t>3. </a:t>
                      </a:r>
                      <a:r>
                        <a:rPr lang="es-CL" sz="1600" b="0" i="0" kern="1200" dirty="0">
                          <a:solidFill>
                            <a:schemeClr val="dk1"/>
                          </a:solidFill>
                          <a:effectLst/>
                          <a:latin typeface="+mn-lt"/>
                          <a:ea typeface="+mn-ea"/>
                          <a:cs typeface="+mn-cs"/>
                        </a:rPr>
                        <a:t>Usabilidad y Accesibilidad (RNF-01, RNF-02)</a:t>
                      </a:r>
                      <a:br>
                        <a:rPr lang="es-CL" sz="1600" dirty="0"/>
                      </a:br>
                      <a:r>
                        <a:rPr lang="es-CL" sz="1600" b="0" i="0" kern="1200" dirty="0">
                          <a:solidFill>
                            <a:schemeClr val="dk1"/>
                          </a:solidFill>
                          <a:effectLst/>
                          <a:latin typeface="+mn-lt"/>
                          <a:ea typeface="+mn-ea"/>
                          <a:cs typeface="+mn-cs"/>
                        </a:rPr>
                        <a:t>Interfaz intuitiva, con criterios WCAG AA, apta para distintos niveles de alfabetización digital.</a:t>
                      </a:r>
                      <a:endParaRPr lang="es-CL" sz="1600" dirty="0"/>
                    </a:p>
                  </a:txBody>
                  <a:tcPr/>
                </a:tc>
                <a:extLst>
                  <a:ext uri="{0D108BD9-81ED-4DB2-BD59-A6C34878D82A}">
                    <a16:rowId xmlns:a16="http://schemas.microsoft.com/office/drawing/2014/main" val="802118990"/>
                  </a:ext>
                </a:extLst>
              </a:tr>
              <a:tr h="700721">
                <a:tc>
                  <a:txBody>
                    <a:bodyPr/>
                    <a:lstStyle/>
                    <a:p>
                      <a:r>
                        <a:rPr lang="es-CL" sz="1600" b="1" i="0" kern="1200" dirty="0">
                          <a:solidFill>
                            <a:schemeClr val="dk1"/>
                          </a:solidFill>
                          <a:effectLst/>
                          <a:latin typeface="+mn-lt"/>
                          <a:ea typeface="+mn-ea"/>
                          <a:cs typeface="+mn-cs"/>
                        </a:rPr>
                        <a:t>4. </a:t>
                      </a:r>
                      <a:r>
                        <a:rPr lang="es-CL" sz="1600" b="0" i="0" kern="1200" dirty="0">
                          <a:solidFill>
                            <a:schemeClr val="dk1"/>
                          </a:solidFill>
                          <a:effectLst/>
                          <a:latin typeface="+mn-lt"/>
                          <a:ea typeface="+mn-ea"/>
                          <a:cs typeface="+mn-cs"/>
                        </a:rPr>
                        <a:t>Reportes y Consultas (RF-22, RF-24)</a:t>
                      </a:r>
                      <a:br>
                        <a:rPr lang="es-CL" sz="1600" dirty="0"/>
                      </a:br>
                      <a:r>
                        <a:rPr lang="es-CL" sz="1600" b="0" i="0" kern="1200" dirty="0">
                          <a:solidFill>
                            <a:schemeClr val="dk1"/>
                          </a:solidFill>
                          <a:effectLst/>
                          <a:latin typeface="+mn-lt"/>
                          <a:ea typeface="+mn-ea"/>
                          <a:cs typeface="+mn-cs"/>
                        </a:rPr>
                        <a:t>Generación de reportes financieros y de morosidad en tiempo real con filtros configurables.</a:t>
                      </a:r>
                      <a:endParaRPr lang="es-CL" sz="1600" dirty="0"/>
                    </a:p>
                  </a:txBody>
                  <a:tcPr/>
                </a:tc>
                <a:tc>
                  <a:txBody>
                    <a:bodyPr/>
                    <a:lstStyle/>
                    <a:p>
                      <a:r>
                        <a:rPr lang="es-CL" sz="1600" b="1" i="0" kern="1200" dirty="0">
                          <a:solidFill>
                            <a:schemeClr val="dk1"/>
                          </a:solidFill>
                          <a:effectLst/>
                          <a:latin typeface="+mn-lt"/>
                          <a:ea typeface="+mn-ea"/>
                          <a:cs typeface="+mn-cs"/>
                        </a:rPr>
                        <a:t>4. </a:t>
                      </a:r>
                      <a:r>
                        <a:rPr lang="es-CL" sz="1600" b="0" i="0" kern="1200" dirty="0">
                          <a:solidFill>
                            <a:schemeClr val="dk1"/>
                          </a:solidFill>
                          <a:effectLst/>
                          <a:latin typeface="+mn-lt"/>
                          <a:ea typeface="+mn-ea"/>
                          <a:cs typeface="+mn-cs"/>
                        </a:rPr>
                        <a:t>Trazabilidad (RNF-12)</a:t>
                      </a:r>
                      <a:br>
                        <a:rPr lang="es-CL" sz="1600" dirty="0"/>
                      </a:br>
                      <a:r>
                        <a:rPr lang="es-CL" sz="1600" b="0" i="0" kern="1200" dirty="0">
                          <a:solidFill>
                            <a:schemeClr val="dk1"/>
                          </a:solidFill>
                          <a:effectLst/>
                          <a:latin typeface="+mn-lt"/>
                          <a:ea typeface="+mn-ea"/>
                          <a:cs typeface="+mn-cs"/>
                        </a:rPr>
                        <a:t>Registro auditable de pagos, cambios de estado y notificaciones para rendición de cuentas.</a:t>
                      </a:r>
                      <a:endParaRPr lang="es-CL" sz="1600" dirty="0"/>
                    </a:p>
                  </a:txBody>
                  <a:tcPr/>
                </a:tc>
                <a:extLst>
                  <a:ext uri="{0D108BD9-81ED-4DB2-BD59-A6C34878D82A}">
                    <a16:rowId xmlns:a16="http://schemas.microsoft.com/office/drawing/2014/main" val="3898119475"/>
                  </a:ext>
                </a:extLst>
              </a:tr>
            </a:tbl>
          </a:graphicData>
        </a:graphic>
      </p:graphicFrame>
    </p:spTree>
    <p:extLst>
      <p:ext uri="{BB962C8B-B14F-4D97-AF65-F5344CB8AC3E}">
        <p14:creationId xmlns:p14="http://schemas.microsoft.com/office/powerpoint/2010/main" val="275245761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a:solidFill>
                  <a:schemeClr val="bg2">
                    <a:lumMod val="50000"/>
                  </a:schemeClr>
                </a:solidFill>
              </a:rPr>
              <a:t>SISTEMA DE GESTIÓN Y CONTROL DE MOROSIDAD – EDIFICIO EL MIRADOR</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02118" y="899638"/>
            <a:ext cx="12191999" cy="646331"/>
          </a:xfrm>
          <a:prstGeom prst="rect">
            <a:avLst/>
          </a:prstGeom>
          <a:noFill/>
        </p:spPr>
        <p:txBody>
          <a:bodyPr wrap="square" rtlCol="0">
            <a:spAutoFit/>
          </a:bodyPr>
          <a:lstStyle/>
          <a:p>
            <a:pPr algn="ctr"/>
            <a:r>
              <a:rPr lang="es-MX" sz="3600" dirty="0"/>
              <a:t>ESTÁNDARES DE CALIDAD - ISO25000 Y OTROS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2" name="Tabla 1">
            <a:extLst>
              <a:ext uri="{FF2B5EF4-FFF2-40B4-BE49-F238E27FC236}">
                <a16:creationId xmlns:a16="http://schemas.microsoft.com/office/drawing/2014/main" id="{B12919BA-F736-D329-CC87-BD00406FE073}"/>
              </a:ext>
            </a:extLst>
          </p:cNvPr>
          <p:cNvGraphicFramePr>
            <a:graphicFrameLocks noGrp="1"/>
          </p:cNvGraphicFramePr>
          <p:nvPr>
            <p:extLst>
              <p:ext uri="{D42A27DB-BD31-4B8C-83A1-F6EECF244321}">
                <p14:modId xmlns:p14="http://schemas.microsoft.com/office/powerpoint/2010/main" val="3330767525"/>
              </p:ext>
            </p:extLst>
          </p:nvPr>
        </p:nvGraphicFramePr>
        <p:xfrm>
          <a:off x="1845388" y="1639253"/>
          <a:ext cx="8296988" cy="5011197"/>
        </p:xfrm>
        <a:graphic>
          <a:graphicData uri="http://schemas.openxmlformats.org/drawingml/2006/table">
            <a:tbl>
              <a:tblPr firstRow="1" bandRow="1">
                <a:tableStyleId>{073A0DAA-6AF3-43AB-8588-CEC1D06C72B9}</a:tableStyleId>
              </a:tblPr>
              <a:tblGrid>
                <a:gridCol w="4148494">
                  <a:extLst>
                    <a:ext uri="{9D8B030D-6E8A-4147-A177-3AD203B41FA5}">
                      <a16:colId xmlns:a16="http://schemas.microsoft.com/office/drawing/2014/main" val="2848567148"/>
                    </a:ext>
                  </a:extLst>
                </a:gridCol>
                <a:gridCol w="4148494">
                  <a:extLst>
                    <a:ext uri="{9D8B030D-6E8A-4147-A177-3AD203B41FA5}">
                      <a16:colId xmlns:a16="http://schemas.microsoft.com/office/drawing/2014/main" val="2916310326"/>
                    </a:ext>
                  </a:extLst>
                </a:gridCol>
              </a:tblGrid>
              <a:tr h="530637">
                <a:tc>
                  <a:txBody>
                    <a:bodyPr/>
                    <a:lstStyle/>
                    <a:p>
                      <a:pPr algn="ctr"/>
                      <a:r>
                        <a:rPr lang="es-CL" sz="1800" b="1" i="0" kern="1200" dirty="0">
                          <a:solidFill>
                            <a:schemeClr val="lt1"/>
                          </a:solidFill>
                          <a:effectLst/>
                          <a:latin typeface="+mn-lt"/>
                          <a:ea typeface="+mn-ea"/>
                          <a:cs typeface="+mn-cs"/>
                        </a:rPr>
                        <a:t>Modelo de Calidad Aplicado (ISO 25010)</a:t>
                      </a:r>
                      <a:endParaRPr lang="es-CL" dirty="0"/>
                    </a:p>
                  </a:txBody>
                  <a:tcPr/>
                </a:tc>
                <a:tc>
                  <a:txBody>
                    <a:bodyPr/>
                    <a:lstStyle/>
                    <a:p>
                      <a:pPr algn="ctr"/>
                      <a:r>
                        <a:rPr lang="es-CL" sz="1800" b="1" i="0" kern="1200" dirty="0">
                          <a:solidFill>
                            <a:schemeClr val="lt1"/>
                          </a:solidFill>
                          <a:effectLst/>
                          <a:latin typeface="+mn-lt"/>
                          <a:ea typeface="+mn-ea"/>
                          <a:cs typeface="+mn-cs"/>
                        </a:rPr>
                        <a:t>Atributos de Calidad Evaluados</a:t>
                      </a:r>
                      <a:endParaRPr lang="es-CL" dirty="0"/>
                    </a:p>
                  </a:txBody>
                  <a:tcPr/>
                </a:tc>
                <a:extLst>
                  <a:ext uri="{0D108BD9-81ED-4DB2-BD59-A6C34878D82A}">
                    <a16:rowId xmlns:a16="http://schemas.microsoft.com/office/drawing/2014/main" val="3890419761"/>
                  </a:ext>
                </a:extLst>
              </a:tr>
              <a:tr h="2159433">
                <a:tc>
                  <a:txBody>
                    <a:bodyPr/>
                    <a:lstStyle/>
                    <a:p>
                      <a:r>
                        <a:rPr lang="es-CL" sz="1800" b="0" i="0" kern="1200" dirty="0">
                          <a:solidFill>
                            <a:schemeClr val="dk1"/>
                          </a:solidFill>
                          <a:effectLst/>
                          <a:latin typeface="+mn-lt"/>
                          <a:ea typeface="+mn-ea"/>
                          <a:cs typeface="+mn-cs"/>
                        </a:rPr>
                        <a:t>Para garantizar la calidad del sistema, se adoptó la norma </a:t>
                      </a:r>
                      <a:r>
                        <a:rPr lang="es-CL" sz="1800" b="1" i="0" kern="1200" dirty="0">
                          <a:solidFill>
                            <a:schemeClr val="dk1"/>
                          </a:solidFill>
                          <a:effectLst/>
                          <a:latin typeface="+mn-lt"/>
                          <a:ea typeface="+mn-ea"/>
                          <a:cs typeface="+mn-cs"/>
                        </a:rPr>
                        <a:t>ISO/IEC 25010</a:t>
                      </a:r>
                      <a:r>
                        <a:rPr lang="es-CL" sz="1800" b="0" i="0" kern="1200" dirty="0">
                          <a:solidFill>
                            <a:schemeClr val="dk1"/>
                          </a:solidFill>
                          <a:effectLst/>
                          <a:latin typeface="+mn-lt"/>
                          <a:ea typeface="+mn-ea"/>
                          <a:cs typeface="+mn-cs"/>
                        </a:rPr>
                        <a:t> (modelo de calidad de software), que define atributos medibles para evaluar el producto desde las etapas tempranas de diseño.</a:t>
                      </a:r>
                      <a:endParaRPr lang="es-CL" dirty="0"/>
                    </a:p>
                  </a:txBody>
                  <a:tcPr/>
                </a:tc>
                <a:tc>
                  <a:txBody>
                    <a:bodyPr/>
                    <a:lstStyle/>
                    <a:p>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Funcionalidad:</a:t>
                      </a:r>
                      <a:r>
                        <a:rPr lang="es-CL" sz="1800" b="0" i="0" kern="1200" dirty="0">
                          <a:solidFill>
                            <a:schemeClr val="dk1"/>
                          </a:solidFill>
                          <a:effectLst/>
                          <a:latin typeface="+mn-lt"/>
                          <a:ea typeface="+mn-ea"/>
                          <a:cs typeface="+mn-cs"/>
                        </a:rPr>
                        <a:t> Cálculo de cuotas, integración con WebPay y activación de morosidad.</a:t>
                      </a:r>
                      <a:br>
                        <a:rPr lang="es-CL" dirty="0"/>
                      </a:br>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Usabilidad:</a:t>
                      </a:r>
                      <a:r>
                        <a:rPr lang="es-CL" sz="1800" b="0" i="0" kern="1200" dirty="0">
                          <a:solidFill>
                            <a:schemeClr val="dk1"/>
                          </a:solidFill>
                          <a:effectLst/>
                          <a:latin typeface="+mn-lt"/>
                          <a:ea typeface="+mn-ea"/>
                          <a:cs typeface="+mn-cs"/>
                        </a:rPr>
                        <a:t> Interfaz intuitiva para residentes con distintos niveles de alfabetización digital.</a:t>
                      </a:r>
                      <a:br>
                        <a:rPr lang="es-CL" dirty="0"/>
                      </a:br>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Rendimiento:</a:t>
                      </a:r>
                      <a:r>
                        <a:rPr lang="es-CL" sz="1800" b="0" i="0" kern="1200" dirty="0">
                          <a:solidFill>
                            <a:schemeClr val="dk1"/>
                          </a:solidFill>
                          <a:effectLst/>
                          <a:latin typeface="+mn-lt"/>
                          <a:ea typeface="+mn-ea"/>
                          <a:cs typeface="+mn-cs"/>
                        </a:rPr>
                        <a:t> Tiempo de respuesta ≤ 3 segundos bajo carga normal (RNF-04).</a:t>
                      </a:r>
                      <a:br>
                        <a:rPr lang="es-CL" dirty="0"/>
                      </a:br>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Seguridad:</a:t>
                      </a:r>
                      <a:r>
                        <a:rPr lang="es-CL" sz="1800" b="0" i="0" kern="1200" dirty="0">
                          <a:solidFill>
                            <a:schemeClr val="dk1"/>
                          </a:solidFill>
                          <a:effectLst/>
                          <a:latin typeface="+mn-lt"/>
                          <a:ea typeface="+mn-ea"/>
                          <a:cs typeface="+mn-cs"/>
                        </a:rPr>
                        <a:t> Autenticación por roles y cifrado HTTPS (RNF-10, RNF-11).</a:t>
                      </a:r>
                      <a:br>
                        <a:rPr lang="es-CL" dirty="0"/>
                      </a:br>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Mantenibilidad:</a:t>
                      </a:r>
                      <a:r>
                        <a:rPr lang="es-CL" sz="1800" b="0" i="0" kern="1200" dirty="0">
                          <a:solidFill>
                            <a:schemeClr val="dk1"/>
                          </a:solidFill>
                          <a:effectLst/>
                          <a:latin typeface="+mn-lt"/>
                          <a:ea typeface="+mn-ea"/>
                          <a:cs typeface="+mn-cs"/>
                        </a:rPr>
                        <a:t> Arquitectura en capas y uso de patrones (Fachada, Repositorio) para facilitar futuras actualizaciones.</a:t>
                      </a:r>
                      <a:br>
                        <a:rPr lang="es-CL" dirty="0"/>
                      </a:br>
                      <a:r>
                        <a:rPr lang="es-CL" sz="1800" b="0" i="0" kern="1200" dirty="0">
                          <a:solidFill>
                            <a:schemeClr val="dk1"/>
                          </a:solidFill>
                          <a:effectLst/>
                          <a:latin typeface="+mn-lt"/>
                          <a:ea typeface="+mn-ea"/>
                          <a:cs typeface="+mn-cs"/>
                        </a:rPr>
                        <a:t>- </a:t>
                      </a:r>
                      <a:r>
                        <a:rPr lang="es-CL" sz="1800" b="1" i="0" kern="1200" dirty="0">
                          <a:solidFill>
                            <a:schemeClr val="dk1"/>
                          </a:solidFill>
                          <a:effectLst/>
                          <a:latin typeface="+mn-lt"/>
                          <a:ea typeface="+mn-ea"/>
                          <a:cs typeface="+mn-cs"/>
                        </a:rPr>
                        <a:t>Fiabilidad:</a:t>
                      </a:r>
                      <a:r>
                        <a:rPr lang="es-CL" sz="1800" b="0" i="0" kern="1200" dirty="0">
                          <a:solidFill>
                            <a:schemeClr val="dk1"/>
                          </a:solidFill>
                          <a:effectLst/>
                          <a:latin typeface="+mn-lt"/>
                          <a:ea typeface="+mn-ea"/>
                          <a:cs typeface="+mn-cs"/>
                        </a:rPr>
                        <a:t> Sistema disponible ≥ 99% del tiempo mensual y respaldos automáticos (RNF-07, RNF-09).</a:t>
                      </a:r>
                      <a:endParaRPr lang="es-CL" dirty="0"/>
                    </a:p>
                  </a:txBody>
                  <a:tcPr/>
                </a:tc>
                <a:extLst>
                  <a:ext uri="{0D108BD9-81ED-4DB2-BD59-A6C34878D82A}">
                    <a16:rowId xmlns:a16="http://schemas.microsoft.com/office/drawing/2014/main" val="452247790"/>
                  </a:ext>
                </a:extLst>
              </a:tr>
            </a:tbl>
          </a:graphicData>
        </a:graphic>
      </p:graphicFrame>
    </p:spTree>
    <p:extLst>
      <p:ext uri="{BB962C8B-B14F-4D97-AF65-F5344CB8AC3E}">
        <p14:creationId xmlns:p14="http://schemas.microsoft.com/office/powerpoint/2010/main" val="340536874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158910"/>
            <a:ext cx="11793894" cy="1446550"/>
          </a:xfrm>
          <a:prstGeom prst="rect">
            <a:avLst/>
          </a:prstGeom>
          <a:noFill/>
        </p:spPr>
        <p:txBody>
          <a:bodyPr wrap="square" rtlCol="0">
            <a:spAutoFit/>
          </a:bodyPr>
          <a:lstStyle/>
          <a:p>
            <a:pPr algn="ctr"/>
            <a:r>
              <a:rPr lang="es-MX" sz="4400" dirty="0"/>
              <a:t>DEMOSTRACIÓN DEL PROTOTIPO DE ALTA FIDELIDAD</a:t>
            </a:r>
          </a:p>
        </p:txBody>
      </p:sp>
      <p:sp>
        <p:nvSpPr>
          <p:cNvPr id="2" name="Rectángulo: esquinas redondeadas 1">
            <a:extLst>
              <a:ext uri="{FF2B5EF4-FFF2-40B4-BE49-F238E27FC236}">
                <a16:creationId xmlns:a16="http://schemas.microsoft.com/office/drawing/2014/main" id="{16027551-E477-B299-5D94-90D3A3A4339F}"/>
              </a:ext>
            </a:extLst>
          </p:cNvPr>
          <p:cNvSpPr/>
          <p:nvPr/>
        </p:nvSpPr>
        <p:spPr>
          <a:xfrm>
            <a:off x="998375" y="2855168"/>
            <a:ext cx="3396342" cy="329179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b="1" dirty="0"/>
              <a:t>Figma/Figma </a:t>
            </a:r>
            <a:r>
              <a:rPr lang="es-CL" b="1" dirty="0" err="1"/>
              <a:t>Make</a:t>
            </a:r>
            <a:br>
              <a:rPr lang="es-CL" dirty="0"/>
            </a:br>
            <a:r>
              <a:rPr lang="es-CL" dirty="0"/>
              <a:t>- Alta fidelidad</a:t>
            </a:r>
            <a:br>
              <a:rPr lang="es-CL" dirty="0"/>
            </a:br>
            <a:r>
              <a:rPr lang="es-CL" dirty="0"/>
              <a:t>- Interactivo y navegable</a:t>
            </a:r>
            <a:br>
              <a:rPr lang="es-CL" dirty="0"/>
            </a:br>
            <a:r>
              <a:rPr lang="es-CL" dirty="0"/>
              <a:t>- Componentes reutilizables</a:t>
            </a:r>
          </a:p>
        </p:txBody>
      </p:sp>
      <p:sp>
        <p:nvSpPr>
          <p:cNvPr id="3" name="Rectángulo: esquinas redondeadas 2">
            <a:extLst>
              <a:ext uri="{FF2B5EF4-FFF2-40B4-BE49-F238E27FC236}">
                <a16:creationId xmlns:a16="http://schemas.microsoft.com/office/drawing/2014/main" id="{23B03763-E3A0-573C-2AD2-613D73B412E2}"/>
              </a:ext>
            </a:extLst>
          </p:cNvPr>
          <p:cNvSpPr/>
          <p:nvPr/>
        </p:nvSpPr>
        <p:spPr>
          <a:xfrm>
            <a:off x="7175240" y="2855168"/>
            <a:ext cx="3554964" cy="329179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b="1" dirty="0"/>
              <a:t>RF implementados (</a:t>
            </a:r>
            <a:r>
              <a:rPr lang="es-CL" b="1" dirty="0" err="1"/>
              <a:t>main</a:t>
            </a:r>
            <a:r>
              <a:rPr lang="es-CL" b="1" dirty="0"/>
              <a:t>):</a:t>
            </a:r>
            <a:br>
              <a:rPr lang="es-CL" dirty="0"/>
            </a:br>
            <a:r>
              <a:rPr lang="es-CL" dirty="0"/>
              <a:t>- RF-01 (Gestión de usuarios)</a:t>
            </a:r>
            <a:br>
              <a:rPr lang="es-CL" dirty="0"/>
            </a:br>
            <a:r>
              <a:rPr lang="es-CL" dirty="0"/>
              <a:t>- RF-07 (Registro de finanzas)</a:t>
            </a:r>
            <a:br>
              <a:rPr lang="es-CL" dirty="0"/>
            </a:br>
            <a:r>
              <a:rPr lang="es-CL" dirty="0"/>
              <a:t>- RF-10 (Activación morosidad)</a:t>
            </a:r>
            <a:br>
              <a:rPr lang="es-CL" dirty="0"/>
            </a:br>
            <a:r>
              <a:rPr lang="es-CL" dirty="0"/>
              <a:t>- RF-24 (Reporte de morosidad)</a:t>
            </a:r>
            <a:br>
              <a:rPr lang="es-CL" dirty="0"/>
            </a:br>
            <a:br>
              <a:rPr lang="es-CL" dirty="0"/>
            </a:br>
            <a:r>
              <a:rPr lang="es-CL" b="1" dirty="0"/>
              <a:t>RNF implementados:</a:t>
            </a:r>
            <a:br>
              <a:rPr lang="es-CL" dirty="0"/>
            </a:br>
            <a:r>
              <a:rPr lang="es-CL" dirty="0"/>
              <a:t>- RNF-01 (Usabilidad)</a:t>
            </a:r>
            <a:br>
              <a:rPr lang="es-CL" dirty="0"/>
            </a:br>
            <a:r>
              <a:rPr lang="es-CL" dirty="0"/>
              <a:t>- RNF-02 (Accesibilidad WCAG AA)</a:t>
            </a:r>
            <a:br>
              <a:rPr lang="es-CL" dirty="0"/>
            </a:br>
            <a:r>
              <a:rPr lang="es-CL" dirty="0"/>
              <a:t>- RNF-10 (Seguridad - Login)</a:t>
            </a: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531844" y="338616"/>
            <a:ext cx="9694505" cy="523220"/>
          </a:xfrm>
          <a:prstGeom prst="rect">
            <a:avLst/>
          </a:prstGeom>
          <a:noFill/>
        </p:spPr>
        <p:txBody>
          <a:bodyPr wrap="square" rtlCol="0">
            <a:spAutoFit/>
          </a:bodyPr>
          <a:lstStyle/>
          <a:p>
            <a:pPr algn="ctr"/>
            <a:r>
              <a:rPr lang="es-MX" sz="2800" dirty="0"/>
              <a:t>HEURISTICA DE NIELSEN Y CASOS DE PRUEBA (ISO25000)</a:t>
            </a:r>
          </a:p>
        </p:txBody>
      </p:sp>
      <p:graphicFrame>
        <p:nvGraphicFramePr>
          <p:cNvPr id="2" name="Tabla 1">
            <a:extLst>
              <a:ext uri="{FF2B5EF4-FFF2-40B4-BE49-F238E27FC236}">
                <a16:creationId xmlns:a16="http://schemas.microsoft.com/office/drawing/2014/main" id="{C3FD9B4A-3843-AA61-11F7-13EDEDD9B918}"/>
              </a:ext>
            </a:extLst>
          </p:cNvPr>
          <p:cNvGraphicFramePr>
            <a:graphicFrameLocks noGrp="1"/>
          </p:cNvGraphicFramePr>
          <p:nvPr>
            <p:extLst>
              <p:ext uri="{D42A27DB-BD31-4B8C-83A1-F6EECF244321}">
                <p14:modId xmlns:p14="http://schemas.microsoft.com/office/powerpoint/2010/main" val="755698259"/>
              </p:ext>
            </p:extLst>
          </p:nvPr>
        </p:nvGraphicFramePr>
        <p:xfrm>
          <a:off x="858756" y="992902"/>
          <a:ext cx="10608566" cy="5551922"/>
        </p:xfrm>
        <a:graphic>
          <a:graphicData uri="http://schemas.openxmlformats.org/drawingml/2006/table">
            <a:tbl>
              <a:tblPr firstRow="1" bandRow="1">
                <a:tableStyleId>{073A0DAA-6AF3-43AB-8588-CEC1D06C72B9}</a:tableStyleId>
              </a:tblPr>
              <a:tblGrid>
                <a:gridCol w="5304283">
                  <a:extLst>
                    <a:ext uri="{9D8B030D-6E8A-4147-A177-3AD203B41FA5}">
                      <a16:colId xmlns:a16="http://schemas.microsoft.com/office/drawing/2014/main" val="3635614707"/>
                    </a:ext>
                  </a:extLst>
                </a:gridCol>
                <a:gridCol w="5304283">
                  <a:extLst>
                    <a:ext uri="{9D8B030D-6E8A-4147-A177-3AD203B41FA5}">
                      <a16:colId xmlns:a16="http://schemas.microsoft.com/office/drawing/2014/main" val="4199540979"/>
                    </a:ext>
                  </a:extLst>
                </a:gridCol>
              </a:tblGrid>
              <a:tr h="440612">
                <a:tc>
                  <a:txBody>
                    <a:bodyPr/>
                    <a:lstStyle/>
                    <a:p>
                      <a:pPr algn="ctr"/>
                      <a:r>
                        <a:rPr lang="es-CL" sz="1800" b="1" i="0" kern="1200" dirty="0">
                          <a:solidFill>
                            <a:schemeClr val="lt1"/>
                          </a:solidFill>
                          <a:effectLst/>
                          <a:latin typeface="+mn-lt"/>
                          <a:ea typeface="+mn-ea"/>
                          <a:cs typeface="+mn-cs"/>
                        </a:rPr>
                        <a:t>PLAN DE PRUEBAS - ISO 25000</a:t>
                      </a:r>
                      <a:endParaRPr lang="es-CL" dirty="0"/>
                    </a:p>
                  </a:txBody>
                  <a:tcPr/>
                </a:tc>
                <a:tc>
                  <a:txBody>
                    <a:bodyPr/>
                    <a:lstStyle/>
                    <a:p>
                      <a:pPr algn="ctr"/>
                      <a:r>
                        <a:rPr lang="es-CL" sz="1800" b="1" i="0" kern="1200" dirty="0">
                          <a:solidFill>
                            <a:schemeClr val="lt1"/>
                          </a:solidFill>
                          <a:effectLst/>
                          <a:latin typeface="+mn-lt"/>
                          <a:ea typeface="+mn-ea"/>
                          <a:cs typeface="+mn-cs"/>
                        </a:rPr>
                        <a:t>EVALUACIÓN HEURÍSTICA DE NIELSEN</a:t>
                      </a:r>
                      <a:endParaRPr lang="es-CL" dirty="0"/>
                    </a:p>
                  </a:txBody>
                  <a:tcPr/>
                </a:tc>
                <a:extLst>
                  <a:ext uri="{0D108BD9-81ED-4DB2-BD59-A6C34878D82A}">
                    <a16:rowId xmlns:a16="http://schemas.microsoft.com/office/drawing/2014/main" val="4173250009"/>
                  </a:ext>
                </a:extLst>
              </a:tr>
              <a:tr h="447870">
                <a:tc>
                  <a:txBody>
                    <a:bodyPr/>
                    <a:lstStyle/>
                    <a:p>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Total de casos diseñados:</a:t>
                      </a:r>
                      <a:r>
                        <a:rPr lang="es-CL" sz="1600" b="0" i="0" kern="1200" dirty="0">
                          <a:solidFill>
                            <a:schemeClr val="dk1"/>
                          </a:solidFill>
                          <a:effectLst/>
                          <a:latin typeface="+mn-lt"/>
                          <a:ea typeface="+mn-ea"/>
                          <a:cs typeface="+mn-cs"/>
                        </a:rPr>
                        <a:t> 36 (CP-01 al CP-36).</a:t>
                      </a:r>
                      <a:endParaRPr lang="es-CL" sz="1600" dirty="0"/>
                    </a:p>
                  </a:txBody>
                  <a:tcPr/>
                </a:tc>
                <a:tc>
                  <a:txBody>
                    <a:bodyPr/>
                    <a:lstStyle/>
                    <a:p>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Total de problemas identificados:</a:t>
                      </a:r>
                      <a:r>
                        <a:rPr lang="es-CL" sz="1600" b="0" i="0" kern="1200" dirty="0">
                          <a:solidFill>
                            <a:schemeClr val="dk1"/>
                          </a:solidFill>
                          <a:effectLst/>
                          <a:latin typeface="+mn-lt"/>
                          <a:ea typeface="+mn-ea"/>
                          <a:cs typeface="+mn-cs"/>
                        </a:rPr>
                        <a:t> 15.</a:t>
                      </a:r>
                      <a:endParaRPr lang="es-CL" sz="1600" dirty="0"/>
                    </a:p>
                  </a:txBody>
                  <a:tcPr/>
                </a:tc>
                <a:extLst>
                  <a:ext uri="{0D108BD9-81ED-4DB2-BD59-A6C34878D82A}">
                    <a16:rowId xmlns:a16="http://schemas.microsoft.com/office/drawing/2014/main" val="3653911696"/>
                  </a:ext>
                </a:extLst>
              </a:tr>
              <a:tr h="946539">
                <a:tc>
                  <a:txBody>
                    <a:bodyPr/>
                    <a:lstStyle/>
                    <a:p>
                      <a:r>
                        <a:rPr lang="es-CL" sz="1600" b="1" i="0" kern="1200" dirty="0">
                          <a:solidFill>
                            <a:schemeClr val="dk1"/>
                          </a:solidFill>
                          <a:effectLst/>
                          <a:latin typeface="+mn-lt"/>
                          <a:ea typeface="+mn-ea"/>
                          <a:cs typeface="+mn-cs"/>
                        </a:rPr>
                        <a:t>Módulos evaluados:</a:t>
                      </a:r>
                      <a:r>
                        <a:rPr lang="es-CL" sz="1600" b="0" i="0" kern="1200" dirty="0">
                          <a:solidFill>
                            <a:schemeClr val="dk1"/>
                          </a:solidFill>
                          <a:effectLst/>
                          <a:latin typeface="+mn-lt"/>
                          <a:ea typeface="+mn-ea"/>
                          <a:cs typeface="+mn-cs"/>
                        </a:rPr>
                        <a:t> Inicio de sesión, Navegación (Sidebar), Reportes de Morosidad (RF-24), Exportación (RF-29), Dashboard y gestión de roles (RBAC)</a:t>
                      </a:r>
                      <a:endParaRPr lang="es-CL" sz="1600" dirty="0"/>
                    </a:p>
                  </a:txBody>
                  <a:tcPr/>
                </a:tc>
                <a:tc>
                  <a:txBody>
                    <a:bodyPr/>
                    <a:lstStyle/>
                    <a:p>
                      <a:r>
                        <a:rPr lang="es-CL" sz="1600" b="1" i="0" kern="1200" dirty="0">
                          <a:solidFill>
                            <a:schemeClr val="dk1"/>
                          </a:solidFill>
                          <a:effectLst/>
                          <a:latin typeface="+mn-lt"/>
                          <a:ea typeface="+mn-ea"/>
                          <a:cs typeface="+mn-cs"/>
                        </a:rPr>
                        <a:t>Distribución por severidad:</a:t>
                      </a:r>
                      <a:br>
                        <a:rPr lang="es-CL" sz="1600" dirty="0"/>
                      </a:br>
                      <a:r>
                        <a:rPr lang="es-CL" sz="1600" b="0" i="0" kern="1200" dirty="0">
                          <a:solidFill>
                            <a:schemeClr val="dk1"/>
                          </a:solidFill>
                          <a:effectLst/>
                          <a:latin typeface="+mn-lt"/>
                          <a:ea typeface="+mn-ea"/>
                          <a:cs typeface="+mn-cs"/>
                        </a:rPr>
                        <a:t>- 0 Catastróficos</a:t>
                      </a:r>
                      <a:br>
                        <a:rPr lang="es-CL" sz="1600" b="0" dirty="0"/>
                      </a:br>
                      <a:r>
                        <a:rPr lang="es-CL" sz="1600" b="0" i="0" kern="1200" dirty="0">
                          <a:solidFill>
                            <a:schemeClr val="dk1"/>
                          </a:solidFill>
                          <a:effectLst/>
                          <a:latin typeface="+mn-lt"/>
                          <a:ea typeface="+mn-ea"/>
                          <a:cs typeface="+mn-cs"/>
                        </a:rPr>
                        <a:t>- 5 Mayores (prioridad alta)</a:t>
                      </a:r>
                      <a:br>
                        <a:rPr lang="es-CL" sz="1600" b="0" dirty="0"/>
                      </a:br>
                      <a:r>
                        <a:rPr lang="es-CL" sz="1600" b="0" i="0" kern="1200" dirty="0">
                          <a:solidFill>
                            <a:schemeClr val="dk1"/>
                          </a:solidFill>
                          <a:effectLst/>
                          <a:latin typeface="+mn-lt"/>
                          <a:ea typeface="+mn-ea"/>
                          <a:cs typeface="+mn-cs"/>
                        </a:rPr>
                        <a:t>- 8 Menores</a:t>
                      </a:r>
                      <a:br>
                        <a:rPr lang="es-CL" sz="1600" b="0" dirty="0"/>
                      </a:br>
                      <a:r>
                        <a:rPr lang="es-CL" sz="1600" b="0" i="0" kern="1200" dirty="0">
                          <a:solidFill>
                            <a:schemeClr val="dk1"/>
                          </a:solidFill>
                          <a:effectLst/>
                          <a:latin typeface="+mn-lt"/>
                          <a:ea typeface="+mn-ea"/>
                          <a:cs typeface="+mn-cs"/>
                        </a:rPr>
                        <a:t>- 2 Cosméticos</a:t>
                      </a:r>
                      <a:endParaRPr lang="es-CL" sz="1600" b="0" dirty="0"/>
                    </a:p>
                  </a:txBody>
                  <a:tcPr/>
                </a:tc>
                <a:extLst>
                  <a:ext uri="{0D108BD9-81ED-4DB2-BD59-A6C34878D82A}">
                    <a16:rowId xmlns:a16="http://schemas.microsoft.com/office/drawing/2014/main" val="87636047"/>
                  </a:ext>
                </a:extLst>
              </a:tr>
              <a:tr h="946539">
                <a:tc>
                  <a:txBody>
                    <a:bodyPr/>
                    <a:lstStyle/>
                    <a:p>
                      <a:r>
                        <a:rPr lang="es-CL" sz="1600" b="1" i="0" kern="1200" dirty="0">
                          <a:solidFill>
                            <a:schemeClr val="dk1"/>
                          </a:solidFill>
                          <a:effectLst/>
                          <a:latin typeface="+mn-lt"/>
                          <a:ea typeface="+mn-ea"/>
                          <a:cs typeface="+mn-cs"/>
                        </a:rPr>
                        <a:t>Estado actual:</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6 casos aprobados</a:t>
                      </a:r>
                      <a:r>
                        <a:rPr lang="es-CL" sz="1600" b="0" i="0" kern="1200" dirty="0">
                          <a:solidFill>
                            <a:schemeClr val="dk1"/>
                          </a:solidFill>
                          <a:effectLst/>
                          <a:latin typeface="+mn-lt"/>
                          <a:ea typeface="+mn-ea"/>
                          <a:cs typeface="+mn-cs"/>
                        </a:rPr>
                        <a:t> (flujos de navegación simulados en Figma).</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30 casos pendientes</a:t>
                      </a:r>
                      <a:r>
                        <a:rPr lang="es-CL" sz="1600" b="0" i="0" kern="1200" dirty="0">
                          <a:solidFill>
                            <a:schemeClr val="dk1"/>
                          </a:solidFill>
                          <a:effectLst/>
                          <a:latin typeface="+mn-lt"/>
                          <a:ea typeface="+mn-ea"/>
                          <a:cs typeface="+mn-cs"/>
                        </a:rPr>
                        <a:t> (validaciones de formato, seguridad y lógica de backend, no ejecutables en prototipo).</a:t>
                      </a:r>
                      <a:endParaRPr lang="es-CL" sz="1600" dirty="0"/>
                    </a:p>
                  </a:txBody>
                  <a:tcPr/>
                </a:tc>
                <a:tc>
                  <a:txBody>
                    <a:bodyPr/>
                    <a:lstStyle/>
                    <a:p>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Heurísticas más críticas (mayores):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H1 - Visibilidad del estado:</a:t>
                      </a:r>
                      <a:r>
                        <a:rPr lang="es-CL" sz="1600" b="0" i="0" kern="1200" dirty="0">
                          <a:solidFill>
                            <a:schemeClr val="dk1"/>
                          </a:solidFill>
                          <a:effectLst/>
                          <a:latin typeface="+mn-lt"/>
                          <a:ea typeface="+mn-ea"/>
                          <a:cs typeface="+mn-cs"/>
                        </a:rPr>
                        <a:t> Falta indicador de carga al generar reportes.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H2 - Lenguaje del mundo real:</a:t>
                      </a:r>
                      <a:r>
                        <a:rPr lang="es-CL" sz="1600" b="0" i="0" kern="1200" dirty="0">
                          <a:solidFill>
                            <a:schemeClr val="dk1"/>
                          </a:solidFill>
                          <a:effectLst/>
                          <a:latin typeface="+mn-lt"/>
                          <a:ea typeface="+mn-ea"/>
                          <a:cs typeface="+mn-cs"/>
                        </a:rPr>
                        <a:t> Uso de etiquetas técnicas ("monto-</a:t>
                      </a:r>
                      <a:r>
                        <a:rPr lang="es-CL" sz="1600" b="0" i="0" kern="1200" dirty="0" err="1">
                          <a:solidFill>
                            <a:schemeClr val="dk1"/>
                          </a:solidFill>
                          <a:effectLst/>
                          <a:latin typeface="+mn-lt"/>
                          <a:ea typeface="+mn-ea"/>
                          <a:cs typeface="+mn-cs"/>
                        </a:rPr>
                        <a:t>desc</a:t>
                      </a:r>
                      <a:r>
                        <a:rPr lang="es-CL" sz="1600" b="0" i="0" kern="1200" dirty="0">
                          <a:solidFill>
                            <a:schemeClr val="dk1"/>
                          </a:solidFill>
                          <a:effectLst/>
                          <a:latin typeface="+mn-lt"/>
                          <a:ea typeface="+mn-ea"/>
                          <a:cs typeface="+mn-cs"/>
                        </a:rPr>
                        <a:t>") en filtros.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H5 - Prevención de errores:</a:t>
                      </a:r>
                      <a:r>
                        <a:rPr lang="es-CL" sz="1600" b="0" i="0" kern="1200" dirty="0">
                          <a:solidFill>
                            <a:schemeClr val="dk1"/>
                          </a:solidFill>
                          <a:effectLst/>
                          <a:latin typeface="+mn-lt"/>
                          <a:ea typeface="+mn-ea"/>
                          <a:cs typeface="+mn-cs"/>
                        </a:rPr>
                        <a:t> Botón de login activo con campos vacíos.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H9 - Recuperación de errores:</a:t>
                      </a:r>
                      <a:r>
                        <a:rPr lang="es-CL" sz="1600" b="0" i="0" kern="1200" dirty="0">
                          <a:solidFill>
                            <a:schemeClr val="dk1"/>
                          </a:solidFill>
                          <a:effectLst/>
                          <a:latin typeface="+mn-lt"/>
                          <a:ea typeface="+mn-ea"/>
                          <a:cs typeface="+mn-cs"/>
                        </a:rPr>
                        <a:t> Ausencia de mensajes de error en login y exportación.</a:t>
                      </a:r>
                      <a:endParaRPr lang="es-CL" sz="1600" dirty="0"/>
                    </a:p>
                  </a:txBody>
                  <a:tcPr/>
                </a:tc>
                <a:extLst>
                  <a:ext uri="{0D108BD9-81ED-4DB2-BD59-A6C34878D82A}">
                    <a16:rowId xmlns:a16="http://schemas.microsoft.com/office/drawing/2014/main" val="2162678458"/>
                  </a:ext>
                </a:extLst>
              </a:tr>
              <a:tr h="946539">
                <a:tc>
                  <a:txBody>
                    <a:bodyPr/>
                    <a:lstStyle/>
                    <a:p>
                      <a:r>
                        <a:rPr lang="es-CL" sz="1600" b="1" i="0" kern="1200" dirty="0">
                          <a:solidFill>
                            <a:schemeClr val="dk1"/>
                          </a:solidFill>
                          <a:effectLst/>
                          <a:latin typeface="+mn-lt"/>
                          <a:ea typeface="+mn-ea"/>
                          <a:cs typeface="+mn-cs"/>
                        </a:rPr>
                        <a:t>Tipos de prueba documentados:</a:t>
                      </a:r>
                      <a:r>
                        <a:rPr lang="es-CL" sz="1600" b="0" i="0" kern="1200" dirty="0">
                          <a:solidFill>
                            <a:schemeClr val="dk1"/>
                          </a:solidFill>
                          <a:effectLst/>
                          <a:latin typeface="+mn-lt"/>
                          <a:ea typeface="+mn-ea"/>
                          <a:cs typeface="+mn-cs"/>
                        </a:rPr>
                        <a:t> Funcionales, validación de datos, seguridad (inyección SQL), usabilidad y pruebas de roles.</a:t>
                      </a:r>
                      <a:endParaRPr lang="es-CL" sz="1600" dirty="0"/>
                    </a:p>
                  </a:txBody>
                  <a:tcPr/>
                </a:tc>
                <a:tc>
                  <a:txBody>
                    <a:bodyPr/>
                    <a:lstStyle/>
                    <a:p>
                      <a:r>
                        <a:rPr lang="es-CL" sz="1600" b="1" i="0" kern="1200" dirty="0">
                          <a:solidFill>
                            <a:schemeClr val="dk1"/>
                          </a:solidFill>
                          <a:effectLst/>
                          <a:latin typeface="+mn-lt"/>
                          <a:ea typeface="+mn-ea"/>
                          <a:cs typeface="+mn-cs"/>
                        </a:rPr>
                        <a:t>Métricas globales: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Promedio de severidad:</a:t>
                      </a:r>
                      <a:r>
                        <a:rPr lang="es-CL" sz="1600" b="0" i="0" kern="1200" dirty="0">
                          <a:solidFill>
                            <a:schemeClr val="dk1"/>
                          </a:solidFill>
                          <a:effectLst/>
                          <a:latin typeface="+mn-lt"/>
                          <a:ea typeface="+mn-ea"/>
                          <a:cs typeface="+mn-cs"/>
                        </a:rPr>
                        <a:t> 2.2 / 4.</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Mayor concentración:</a:t>
                      </a:r>
                      <a:r>
                        <a:rPr lang="es-CL" sz="1600" b="0" i="0" kern="1200" dirty="0">
                          <a:solidFill>
                            <a:schemeClr val="dk1"/>
                          </a:solidFill>
                          <a:effectLst/>
                          <a:latin typeface="+mn-lt"/>
                          <a:ea typeface="+mn-ea"/>
                          <a:cs typeface="+mn-cs"/>
                        </a:rPr>
                        <a:t> H1, H2, H5 y H9 (12 de 15 problemas).</a:t>
                      </a:r>
                      <a:endParaRPr lang="es-CL" sz="1600" dirty="0"/>
                    </a:p>
                  </a:txBody>
                  <a:tcPr/>
                </a:tc>
                <a:extLst>
                  <a:ext uri="{0D108BD9-81ED-4DB2-BD59-A6C34878D82A}">
                    <a16:rowId xmlns:a16="http://schemas.microsoft.com/office/drawing/2014/main" val="245791540"/>
                  </a:ext>
                </a:extLst>
              </a:tr>
            </a:tbl>
          </a:graphicData>
        </a:graphic>
      </p:graphicFrame>
    </p:spTree>
    <p:extLst>
      <p:ext uri="{BB962C8B-B14F-4D97-AF65-F5344CB8AC3E}">
        <p14:creationId xmlns:p14="http://schemas.microsoft.com/office/powerpoint/2010/main" val="290489373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914458" y="338616"/>
            <a:ext cx="12191999" cy="523220"/>
          </a:xfrm>
          <a:prstGeom prst="rect">
            <a:avLst/>
          </a:prstGeom>
          <a:noFill/>
        </p:spPr>
        <p:txBody>
          <a:bodyPr wrap="square" rtlCol="0">
            <a:spAutoFit/>
          </a:bodyPr>
          <a:lstStyle/>
          <a:p>
            <a:pPr algn="ctr"/>
            <a:r>
              <a:rPr lang="es-MX" sz="2800" dirty="0"/>
              <a:t>ACCIONES DE MEJORA Y CONTROL DE VERSIONES</a:t>
            </a:r>
          </a:p>
        </p:txBody>
      </p:sp>
      <p:graphicFrame>
        <p:nvGraphicFramePr>
          <p:cNvPr id="3" name="Tabla 2">
            <a:extLst>
              <a:ext uri="{FF2B5EF4-FFF2-40B4-BE49-F238E27FC236}">
                <a16:creationId xmlns:a16="http://schemas.microsoft.com/office/drawing/2014/main" id="{B0383939-F456-E876-6346-EAA7B03ABB2B}"/>
              </a:ext>
            </a:extLst>
          </p:cNvPr>
          <p:cNvGraphicFramePr>
            <a:graphicFrameLocks noGrp="1"/>
          </p:cNvGraphicFramePr>
          <p:nvPr>
            <p:extLst>
              <p:ext uri="{D42A27DB-BD31-4B8C-83A1-F6EECF244321}">
                <p14:modId xmlns:p14="http://schemas.microsoft.com/office/powerpoint/2010/main" val="3559042764"/>
              </p:ext>
            </p:extLst>
          </p:nvPr>
        </p:nvGraphicFramePr>
        <p:xfrm>
          <a:off x="615819" y="981988"/>
          <a:ext cx="10459618" cy="5537396"/>
        </p:xfrm>
        <a:graphic>
          <a:graphicData uri="http://schemas.openxmlformats.org/drawingml/2006/table">
            <a:tbl>
              <a:tblPr firstRow="1" bandRow="1">
                <a:tableStyleId>{073A0DAA-6AF3-43AB-8588-CEC1D06C72B9}</a:tableStyleId>
              </a:tblPr>
              <a:tblGrid>
                <a:gridCol w="5229809">
                  <a:extLst>
                    <a:ext uri="{9D8B030D-6E8A-4147-A177-3AD203B41FA5}">
                      <a16:colId xmlns:a16="http://schemas.microsoft.com/office/drawing/2014/main" val="4167909082"/>
                    </a:ext>
                  </a:extLst>
                </a:gridCol>
                <a:gridCol w="5229809">
                  <a:extLst>
                    <a:ext uri="{9D8B030D-6E8A-4147-A177-3AD203B41FA5}">
                      <a16:colId xmlns:a16="http://schemas.microsoft.com/office/drawing/2014/main" val="2377027060"/>
                    </a:ext>
                  </a:extLst>
                </a:gridCol>
              </a:tblGrid>
              <a:tr h="569156">
                <a:tc>
                  <a:txBody>
                    <a:bodyPr/>
                    <a:lstStyle/>
                    <a:p>
                      <a:pPr algn="ctr"/>
                      <a:r>
                        <a:rPr lang="es-CL" sz="1800" b="1" i="0" kern="1200" dirty="0">
                          <a:solidFill>
                            <a:schemeClr val="lt1"/>
                          </a:solidFill>
                          <a:effectLst/>
                          <a:latin typeface="+mn-lt"/>
                          <a:ea typeface="+mn-ea"/>
                          <a:cs typeface="+mn-cs"/>
                        </a:rPr>
                        <a:t>ACCIONES DE MEJORA (post-evaluación)</a:t>
                      </a:r>
                      <a:endParaRPr lang="es-CL" dirty="0"/>
                    </a:p>
                  </a:txBody>
                  <a:tcPr/>
                </a:tc>
                <a:tc>
                  <a:txBody>
                    <a:bodyPr/>
                    <a:lstStyle/>
                    <a:p>
                      <a:pPr algn="ctr"/>
                      <a:r>
                        <a:rPr lang="es-CL" sz="1800" b="1" i="0" kern="1200" dirty="0">
                          <a:solidFill>
                            <a:schemeClr val="lt1"/>
                          </a:solidFill>
                          <a:effectLst/>
                          <a:latin typeface="+mn-lt"/>
                          <a:ea typeface="+mn-ea"/>
                          <a:cs typeface="+mn-cs"/>
                        </a:rPr>
                        <a:t>CONTROL DE VERSIONES</a:t>
                      </a:r>
                      <a:endParaRPr lang="es-CL" dirty="0"/>
                    </a:p>
                  </a:txBody>
                  <a:tcPr/>
                </a:tc>
                <a:extLst>
                  <a:ext uri="{0D108BD9-81ED-4DB2-BD59-A6C34878D82A}">
                    <a16:rowId xmlns:a16="http://schemas.microsoft.com/office/drawing/2014/main" val="2579626014"/>
                  </a:ext>
                </a:extLst>
              </a:tr>
              <a:tr h="4968240">
                <a:tc>
                  <a:txBody>
                    <a:bodyPr/>
                    <a:lstStyle/>
                    <a:p>
                      <a:r>
                        <a:rPr lang="es-CL" sz="1600" b="1" i="0" kern="1200" dirty="0">
                          <a:solidFill>
                            <a:schemeClr val="dk1"/>
                          </a:solidFill>
                          <a:effectLst/>
                          <a:latin typeface="+mn-lt"/>
                          <a:ea typeface="+mn-ea"/>
                          <a:cs typeface="+mn-cs"/>
                        </a:rPr>
                        <a:t>Basadas en evaluación heurística de Nielsen:</a:t>
                      </a:r>
                    </a:p>
                    <a:p>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Prioridad alta (problemas mayores):</a:t>
                      </a:r>
                      <a:br>
                        <a:rPr lang="es-CL" sz="1600" dirty="0"/>
                      </a:br>
                      <a:r>
                        <a:rPr lang="es-CL" sz="1600" b="0" i="0" kern="1200" dirty="0">
                          <a:solidFill>
                            <a:schemeClr val="dk1"/>
                          </a:solidFill>
                          <a:effectLst/>
                          <a:latin typeface="+mn-lt"/>
                          <a:ea typeface="+mn-ea"/>
                          <a:cs typeface="+mn-cs"/>
                        </a:rPr>
                        <a:t>- Agregar indicadores de carga (spinner) al generar reportes (H1).</a:t>
                      </a:r>
                      <a:br>
                        <a:rPr lang="es-CL" sz="1600" dirty="0"/>
                      </a:br>
                      <a:r>
                        <a:rPr lang="es-CL" sz="1600" b="0" i="0" kern="1200" dirty="0">
                          <a:solidFill>
                            <a:schemeClr val="dk1"/>
                          </a:solidFill>
                          <a:effectLst/>
                          <a:latin typeface="+mn-lt"/>
                          <a:ea typeface="+mn-ea"/>
                          <a:cs typeface="+mn-cs"/>
                        </a:rPr>
                        <a:t>- Reemplazar etiquetas técnicas ("monto-</a:t>
                      </a:r>
                      <a:r>
                        <a:rPr lang="es-CL" sz="1600" b="0" i="0" kern="1200" dirty="0" err="1">
                          <a:solidFill>
                            <a:schemeClr val="dk1"/>
                          </a:solidFill>
                          <a:effectLst/>
                          <a:latin typeface="+mn-lt"/>
                          <a:ea typeface="+mn-ea"/>
                          <a:cs typeface="+mn-cs"/>
                        </a:rPr>
                        <a:t>desc</a:t>
                      </a:r>
                      <a:r>
                        <a:rPr lang="es-CL" sz="1600" b="0" i="0" kern="1200" dirty="0">
                          <a:solidFill>
                            <a:schemeClr val="dk1"/>
                          </a:solidFill>
                          <a:effectLst/>
                          <a:latin typeface="+mn-lt"/>
                          <a:ea typeface="+mn-ea"/>
                          <a:cs typeface="+mn-cs"/>
                        </a:rPr>
                        <a:t>") por lenguaje natural (H2).</a:t>
                      </a:r>
                      <a:br>
                        <a:rPr lang="es-CL" sz="1600" dirty="0"/>
                      </a:br>
                      <a:r>
                        <a:rPr lang="es-CL" sz="1600" b="0" i="0" kern="1200" dirty="0">
                          <a:solidFill>
                            <a:schemeClr val="dk1"/>
                          </a:solidFill>
                          <a:effectLst/>
                          <a:latin typeface="+mn-lt"/>
                          <a:ea typeface="+mn-ea"/>
                          <a:cs typeface="+mn-cs"/>
                        </a:rPr>
                        <a:t>- Deshabilitar botón de login si hay campos vacíos (H5).</a:t>
                      </a:r>
                      <a:br>
                        <a:rPr lang="es-CL" sz="1600" dirty="0"/>
                      </a:br>
                      <a:r>
                        <a:rPr lang="es-CL" sz="1600" b="0" i="0" kern="1200" dirty="0">
                          <a:solidFill>
                            <a:schemeClr val="dk1"/>
                          </a:solidFill>
                          <a:effectLst/>
                          <a:latin typeface="+mn-lt"/>
                          <a:ea typeface="+mn-ea"/>
                          <a:cs typeface="+mn-cs"/>
                        </a:rPr>
                        <a:t>- Diseñar mensajes de error específicos para login y exportación (H9).</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Prioridad media/baja (problemas menores/cosméticos):</a:t>
                      </a:r>
                      <a:br>
                        <a:rPr lang="es-CL" sz="1600" dirty="0"/>
                      </a:br>
                      <a:r>
                        <a:rPr lang="es-CL" sz="1600" b="0" i="0" kern="1200" dirty="0">
                          <a:solidFill>
                            <a:schemeClr val="dk1"/>
                          </a:solidFill>
                          <a:effectLst/>
                          <a:latin typeface="+mn-lt"/>
                          <a:ea typeface="+mn-ea"/>
                          <a:cs typeface="+mn-cs"/>
                        </a:rPr>
                        <a:t>- Unificar estilos de navegación entre módulos (H4).</a:t>
                      </a:r>
                      <a:br>
                        <a:rPr lang="es-CL" sz="1600" dirty="0"/>
                      </a:br>
                      <a:r>
                        <a:rPr lang="es-CL" sz="1600" b="0" i="0" kern="1200" dirty="0">
                          <a:solidFill>
                            <a:schemeClr val="dk1"/>
                          </a:solidFill>
                          <a:effectLst/>
                          <a:latin typeface="+mn-lt"/>
                          <a:ea typeface="+mn-ea"/>
                          <a:cs typeface="+mn-cs"/>
                        </a:rPr>
                        <a:t>- Agregar tooltips en campos de filtros avanzados (H10).</a:t>
                      </a:r>
                      <a:br>
                        <a:rPr lang="es-CL" sz="1600" dirty="0"/>
                      </a:br>
                      <a:r>
                        <a:rPr lang="es-CL" sz="1600" b="0" i="0" kern="1200" dirty="0">
                          <a:solidFill>
                            <a:schemeClr val="dk1"/>
                          </a:solidFill>
                          <a:effectLst/>
                          <a:latin typeface="+mn-lt"/>
                          <a:ea typeface="+mn-ea"/>
                          <a:cs typeface="+mn-cs"/>
                        </a:rPr>
                        <a:t>- Priorizar visualmente KPIs críticos en Dashboard (H8).</a:t>
                      </a:r>
                      <a:endParaRPr lang="es-CL" sz="1600" dirty="0"/>
                    </a:p>
                  </a:txBody>
                  <a:tcPr/>
                </a:tc>
                <a:tc>
                  <a:txBody>
                    <a:bodyPr/>
                    <a:lstStyle/>
                    <a:p>
                      <a:r>
                        <a:rPr lang="es-CL" sz="1600" b="1" i="0" kern="1200" dirty="0">
                          <a:solidFill>
                            <a:schemeClr val="dk1"/>
                          </a:solidFill>
                          <a:effectLst/>
                          <a:latin typeface="+mn-lt"/>
                          <a:ea typeface="+mn-ea"/>
                          <a:cs typeface="+mn-cs"/>
                        </a:rPr>
                        <a:t>Modelo de Versionamiento:</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Semántico (MAJOR.MINOR.PATCH)</a:t>
                      </a:r>
                      <a:r>
                        <a:rPr lang="es-CL" sz="1600" b="0" i="0" kern="1200" dirty="0">
                          <a:solidFill>
                            <a:schemeClr val="dk1"/>
                          </a:solidFill>
                          <a:effectLst/>
                          <a:latin typeface="+mn-lt"/>
                          <a:ea typeface="+mn-ea"/>
                          <a:cs typeface="+mn-cs"/>
                        </a:rPr>
                        <a:t> combinado con historial nativo de Figma.</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MAJOR:</a:t>
                      </a:r>
                      <a:r>
                        <a:rPr lang="es-CL" sz="1600" b="0" i="0" kern="1200" dirty="0">
                          <a:solidFill>
                            <a:schemeClr val="dk1"/>
                          </a:solidFill>
                          <a:effectLst/>
                          <a:latin typeface="+mn-lt"/>
                          <a:ea typeface="+mn-ea"/>
                          <a:cs typeface="+mn-cs"/>
                        </a:rPr>
                        <a:t> Rediseño estructural (v0 → v1).</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MINOR:</a:t>
                      </a:r>
                      <a:r>
                        <a:rPr lang="es-CL" sz="1600" b="0" i="0" kern="1200" dirty="0">
                          <a:solidFill>
                            <a:schemeClr val="dk1"/>
                          </a:solidFill>
                          <a:effectLst/>
                          <a:latin typeface="+mn-lt"/>
                          <a:ea typeface="+mn-ea"/>
                          <a:cs typeface="+mn-cs"/>
                        </a:rPr>
                        <a:t> Nuevas funcionalidades (v0.1 → v0.2).</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PATCH:</a:t>
                      </a:r>
                      <a:r>
                        <a:rPr lang="es-CL" sz="1600" b="0" i="0" kern="1200" dirty="0">
                          <a:solidFill>
                            <a:schemeClr val="dk1"/>
                          </a:solidFill>
                          <a:effectLst/>
                          <a:latin typeface="+mn-lt"/>
                          <a:ea typeface="+mn-ea"/>
                          <a:cs typeface="+mn-cs"/>
                        </a:rPr>
                        <a:t> Correcciones visuales o ajustes menores (v0.4.1).</a:t>
                      </a:r>
                      <a:br>
                        <a:rPr lang="es-CL" sz="1600" dirty="0"/>
                      </a:br>
                      <a:br>
                        <a:rPr lang="es-CL" sz="1600" dirty="0"/>
                      </a:br>
                      <a:r>
                        <a:rPr lang="es-CL" sz="1600" b="1" i="0" kern="1200" dirty="0">
                          <a:solidFill>
                            <a:schemeClr val="dk1"/>
                          </a:solidFill>
                          <a:effectLst/>
                          <a:latin typeface="+mn-lt"/>
                          <a:ea typeface="+mn-ea"/>
                          <a:cs typeface="+mn-cs"/>
                        </a:rPr>
                        <a:t>Herramientas utilizadas:</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Figma:</a:t>
                      </a:r>
                      <a:r>
                        <a:rPr lang="es-CL" sz="1600" b="0" i="0" kern="1200" dirty="0">
                          <a:solidFill>
                            <a:schemeClr val="dk1"/>
                          </a:solidFill>
                          <a:effectLst/>
                          <a:latin typeface="+mn-lt"/>
                          <a:ea typeface="+mn-ea"/>
                          <a:cs typeface="+mn-cs"/>
                        </a:rPr>
                        <a:t> Historial automático de versiones para el prototipo.</a:t>
                      </a:r>
                      <a:br>
                        <a:rPr lang="es-CL" sz="16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GitHub:</a:t>
                      </a:r>
                      <a:r>
                        <a:rPr lang="es-CL" sz="1600" b="0" i="0" kern="1200" dirty="0">
                          <a:solidFill>
                            <a:schemeClr val="dk1"/>
                          </a:solidFill>
                          <a:effectLst/>
                          <a:latin typeface="+mn-lt"/>
                          <a:ea typeface="+mn-ea"/>
                          <a:cs typeface="+mn-cs"/>
                        </a:rPr>
                        <a:t> Repositorio central para todos los artefactos documentales (DAS, plan de pruebas, evaluación heurística, etc.).</a:t>
                      </a:r>
                    </a:p>
                    <a:p>
                      <a:endParaRPr lang="es-CL" sz="1600" b="0" i="0" kern="1200" dirty="0">
                        <a:solidFill>
                          <a:schemeClr val="dk1"/>
                        </a:solidFill>
                        <a:effectLst/>
                        <a:latin typeface="+mn-lt"/>
                        <a:ea typeface="+mn-ea"/>
                        <a:cs typeface="+mn-cs"/>
                      </a:endParaRPr>
                    </a:p>
                    <a:p>
                      <a:r>
                        <a:rPr lang="es-CL" sz="1600" b="1" i="0" kern="1200" dirty="0">
                          <a:solidFill>
                            <a:schemeClr val="dk1"/>
                          </a:solidFill>
                          <a:effectLst/>
                          <a:latin typeface="+mn-lt"/>
                          <a:ea typeface="+mn-ea"/>
                          <a:cs typeface="+mn-cs"/>
                        </a:rPr>
                        <a:t>Registro de versiones clave:</a:t>
                      </a:r>
                      <a:br>
                        <a:rPr lang="es-CL" sz="14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v0.1.0 (14/06):</a:t>
                      </a:r>
                      <a:r>
                        <a:rPr lang="es-CL" sz="1600" b="0" i="0" kern="1200" dirty="0">
                          <a:solidFill>
                            <a:schemeClr val="dk1"/>
                          </a:solidFill>
                          <a:effectLst/>
                          <a:latin typeface="+mn-lt"/>
                          <a:ea typeface="+mn-ea"/>
                          <a:cs typeface="+mn-cs"/>
                        </a:rPr>
                        <a:t> Estructura de navegación.</a:t>
                      </a:r>
                      <a:br>
                        <a:rPr lang="es-CL" sz="14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v0.4.0 (15/06):</a:t>
                      </a:r>
                      <a:r>
                        <a:rPr lang="es-CL" sz="1600" b="0" i="0" kern="1200" dirty="0">
                          <a:solidFill>
                            <a:schemeClr val="dk1"/>
                          </a:solidFill>
                          <a:effectLst/>
                          <a:latin typeface="+mn-lt"/>
                          <a:ea typeface="+mn-ea"/>
                          <a:cs typeface="+mn-cs"/>
                        </a:rPr>
                        <a:t> RF-24 completo (filtros, resultados, exportación).</a:t>
                      </a:r>
                      <a:br>
                        <a:rPr lang="es-CL" sz="1400" dirty="0"/>
                      </a:br>
                      <a:r>
                        <a:rPr lang="es-CL" sz="1600" b="0" i="0" kern="1200" dirty="0">
                          <a:solidFill>
                            <a:schemeClr val="dk1"/>
                          </a:solidFill>
                          <a:effectLst/>
                          <a:latin typeface="+mn-lt"/>
                          <a:ea typeface="+mn-ea"/>
                          <a:cs typeface="+mn-cs"/>
                        </a:rPr>
                        <a:t>- </a:t>
                      </a:r>
                      <a:r>
                        <a:rPr lang="es-CL" sz="1600" b="1" i="0" kern="1200" dirty="0">
                          <a:solidFill>
                            <a:schemeClr val="dk1"/>
                          </a:solidFill>
                          <a:effectLst/>
                          <a:latin typeface="+mn-lt"/>
                          <a:ea typeface="+mn-ea"/>
                          <a:cs typeface="+mn-cs"/>
                        </a:rPr>
                        <a:t>v1.0.0 (22/06):</a:t>
                      </a:r>
                      <a:r>
                        <a:rPr lang="es-CL" sz="1600" b="0" i="0" kern="1200" dirty="0">
                          <a:solidFill>
                            <a:schemeClr val="dk1"/>
                          </a:solidFill>
                          <a:effectLst/>
                          <a:latin typeface="+mn-lt"/>
                          <a:ea typeface="+mn-ea"/>
                          <a:cs typeface="+mn-cs"/>
                        </a:rPr>
                        <a:t> Versión final entregable con todos los artefactos consolidados.</a:t>
                      </a:r>
                      <a:endParaRPr lang="es-CL" sz="1400" dirty="0"/>
                    </a:p>
                  </a:txBody>
                  <a:tcPr/>
                </a:tc>
                <a:extLst>
                  <a:ext uri="{0D108BD9-81ED-4DB2-BD59-A6C34878D82A}">
                    <a16:rowId xmlns:a16="http://schemas.microsoft.com/office/drawing/2014/main" val="3686506070"/>
                  </a:ext>
                </a:extLst>
              </a:tr>
            </a:tbl>
          </a:graphicData>
        </a:graphic>
      </p:graphicFrame>
    </p:spTree>
    <p:extLst>
      <p:ext uri="{BB962C8B-B14F-4D97-AF65-F5344CB8AC3E}">
        <p14:creationId xmlns:p14="http://schemas.microsoft.com/office/powerpoint/2010/main" val="126626850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TotalTime>
  <Words>2517</Words>
  <Application>Microsoft Office PowerPoint</Application>
  <PresentationFormat>Panorámica</PresentationFormat>
  <Paragraphs>219</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Vista de Escenario</vt:lpstr>
      <vt:lpstr>Vista Lógica</vt:lpstr>
      <vt:lpstr>Vista de Desarrollo</vt:lpstr>
      <vt:lpstr>Vista de Procesos</vt:lpstr>
      <vt:lpstr>Vista Física</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Xero Dono</cp:lastModifiedBy>
  <cp:revision>7</cp:revision>
  <dcterms:created xsi:type="dcterms:W3CDTF">2023-10-28T21:12:11Z</dcterms:created>
  <dcterms:modified xsi:type="dcterms:W3CDTF">2026-07-10T09:46:35Z</dcterms:modified>
</cp:coreProperties>
</file>